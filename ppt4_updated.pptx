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2"/>
  </p:notesMasterIdLst>
  <p:handoutMasterIdLst>
    <p:handoutMasterId r:id="rId23"/>
  </p:handoutMasterIdLst>
  <p:sldIdLst>
    <p:sldId id="358" r:id="rId2"/>
    <p:sldId id="257" r:id="rId3"/>
    <p:sldId id="343" r:id="rId4"/>
    <p:sldId id="345" r:id="rId5"/>
    <p:sldId id="346" r:id="rId6"/>
    <p:sldId id="357" r:id="rId7"/>
    <p:sldId id="348" r:id="rId8"/>
    <p:sldId id="349" r:id="rId9"/>
    <p:sldId id="352" r:id="rId10"/>
    <p:sldId id="350" r:id="rId11"/>
    <p:sldId id="351" r:id="rId12"/>
    <p:sldId id="344" r:id="rId13"/>
    <p:sldId id="306" r:id="rId14"/>
    <p:sldId id="309" r:id="rId15"/>
    <p:sldId id="353" r:id="rId16"/>
    <p:sldId id="354" r:id="rId17"/>
    <p:sldId id="355" r:id="rId18"/>
    <p:sldId id="356" r:id="rId19"/>
    <p:sldId id="338" r:id="rId20"/>
    <p:sldId id="342" r:id="rId21"/>
  </p:sldIdLst>
  <p:sldSz cx="12192000" cy="6858000"/>
  <p:notesSz cx="6954838" cy="9309100"/>
  <p:defaultTextStyle>
    <a:defPPr>
      <a:defRPr lang="en-US"/>
    </a:defPPr>
    <a:lvl1pPr algn="l" rtl="0" eaLnBrk="0" fontAlgn="base" hangingPunct="0">
      <a:spcBef>
        <a:spcPct val="0"/>
      </a:spcBef>
      <a:spcAft>
        <a:spcPct val="0"/>
      </a:spcAft>
      <a:defRPr kern="1200">
        <a:solidFill>
          <a:schemeClr val="tx1"/>
        </a:solidFill>
        <a:latin typeface="Bookman Old Style" pitchFamily="18" charset="0"/>
        <a:ea typeface="+mn-ea"/>
        <a:cs typeface="+mn-cs"/>
      </a:defRPr>
    </a:lvl1pPr>
    <a:lvl2pPr marL="457200" algn="l" rtl="0" eaLnBrk="0" fontAlgn="base" hangingPunct="0">
      <a:spcBef>
        <a:spcPct val="0"/>
      </a:spcBef>
      <a:spcAft>
        <a:spcPct val="0"/>
      </a:spcAft>
      <a:defRPr kern="1200">
        <a:solidFill>
          <a:schemeClr val="tx1"/>
        </a:solidFill>
        <a:latin typeface="Bookman Old Style" pitchFamily="18" charset="0"/>
        <a:ea typeface="+mn-ea"/>
        <a:cs typeface="+mn-cs"/>
      </a:defRPr>
    </a:lvl2pPr>
    <a:lvl3pPr marL="914400" algn="l" rtl="0" eaLnBrk="0" fontAlgn="base" hangingPunct="0">
      <a:spcBef>
        <a:spcPct val="0"/>
      </a:spcBef>
      <a:spcAft>
        <a:spcPct val="0"/>
      </a:spcAft>
      <a:defRPr kern="1200">
        <a:solidFill>
          <a:schemeClr val="tx1"/>
        </a:solidFill>
        <a:latin typeface="Bookman Old Style" pitchFamily="18" charset="0"/>
        <a:ea typeface="+mn-ea"/>
        <a:cs typeface="+mn-cs"/>
      </a:defRPr>
    </a:lvl3pPr>
    <a:lvl4pPr marL="1371600" algn="l" rtl="0" eaLnBrk="0" fontAlgn="base" hangingPunct="0">
      <a:spcBef>
        <a:spcPct val="0"/>
      </a:spcBef>
      <a:spcAft>
        <a:spcPct val="0"/>
      </a:spcAft>
      <a:defRPr kern="1200">
        <a:solidFill>
          <a:schemeClr val="tx1"/>
        </a:solidFill>
        <a:latin typeface="Bookman Old Style" pitchFamily="18" charset="0"/>
        <a:ea typeface="+mn-ea"/>
        <a:cs typeface="+mn-cs"/>
      </a:defRPr>
    </a:lvl4pPr>
    <a:lvl5pPr marL="1828800" algn="l" rtl="0" eaLnBrk="0" fontAlgn="base" hangingPunct="0">
      <a:spcBef>
        <a:spcPct val="0"/>
      </a:spcBef>
      <a:spcAft>
        <a:spcPct val="0"/>
      </a:spcAft>
      <a:defRPr kern="1200">
        <a:solidFill>
          <a:schemeClr val="tx1"/>
        </a:solidFill>
        <a:latin typeface="Bookman Old Style" pitchFamily="18" charset="0"/>
        <a:ea typeface="+mn-ea"/>
        <a:cs typeface="+mn-cs"/>
      </a:defRPr>
    </a:lvl5pPr>
    <a:lvl6pPr marL="2286000" algn="l" defTabSz="914400" rtl="0" eaLnBrk="1" latinLnBrk="0" hangingPunct="1">
      <a:defRPr kern="1200">
        <a:solidFill>
          <a:schemeClr val="tx1"/>
        </a:solidFill>
        <a:latin typeface="Bookman Old Style" pitchFamily="18" charset="0"/>
        <a:ea typeface="+mn-ea"/>
        <a:cs typeface="+mn-cs"/>
      </a:defRPr>
    </a:lvl6pPr>
    <a:lvl7pPr marL="2743200" algn="l" defTabSz="914400" rtl="0" eaLnBrk="1" latinLnBrk="0" hangingPunct="1">
      <a:defRPr kern="1200">
        <a:solidFill>
          <a:schemeClr val="tx1"/>
        </a:solidFill>
        <a:latin typeface="Bookman Old Style" pitchFamily="18" charset="0"/>
        <a:ea typeface="+mn-ea"/>
        <a:cs typeface="+mn-cs"/>
      </a:defRPr>
    </a:lvl7pPr>
    <a:lvl8pPr marL="3200400" algn="l" defTabSz="914400" rtl="0" eaLnBrk="1" latinLnBrk="0" hangingPunct="1">
      <a:defRPr kern="1200">
        <a:solidFill>
          <a:schemeClr val="tx1"/>
        </a:solidFill>
        <a:latin typeface="Bookman Old Style" pitchFamily="18" charset="0"/>
        <a:ea typeface="+mn-ea"/>
        <a:cs typeface="+mn-cs"/>
      </a:defRPr>
    </a:lvl8pPr>
    <a:lvl9pPr marL="3657600" algn="l" defTabSz="914400" rtl="0" eaLnBrk="1" latinLnBrk="0" hangingPunct="1">
      <a:defRPr kern="1200">
        <a:solidFill>
          <a:schemeClr val="tx1"/>
        </a:solidFill>
        <a:latin typeface="Bookman Old Style"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E3D2CC-151F-4623-A75A-F3A4C43DF8B3}" v="3" dt="2026-09-20T18:35:05.7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82" autoAdjust="0"/>
    <p:restoredTop sz="94660"/>
  </p:normalViewPr>
  <p:slideViewPr>
    <p:cSldViewPr snapToGrid="0">
      <p:cViewPr varScale="1">
        <p:scale>
          <a:sx n="89" d="100"/>
          <a:sy n="89" d="100"/>
        </p:scale>
        <p:origin x="422"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handoutMaster" Target="handoutMasters/handout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microsoft.com/office/2016/11/relationships/changesInfo" Target="changesInfos/changesInfo1.xml"/><Relationship Id="rId2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KSHITHA YASARAPU" userId="16044d7fdb65b29e" providerId="LiveId" clId="{EDF7592A-4142-4838-A90A-73C98451121C}"/>
    <pc:docChg chg="modSld">
      <pc:chgData name="DEEKSHITHA YASARAPU" userId="16044d7fdb65b29e" providerId="LiveId" clId="{EDF7592A-4142-4838-A90A-73C98451121C}" dt="2026-09-20T18:36:56.880" v="60" actId="5793"/>
      <pc:docMkLst>
        <pc:docMk/>
      </pc:docMkLst>
      <pc:sldChg chg="modSp mod">
        <pc:chgData name="DEEKSHITHA YASARAPU" userId="16044d7fdb65b29e" providerId="LiveId" clId="{EDF7592A-4142-4838-A90A-73C98451121C}" dt="2026-09-20T18:34:28.579" v="25" actId="20577"/>
        <pc:sldMkLst>
          <pc:docMk/>
          <pc:sldMk cId="1628902219" sldId="355"/>
        </pc:sldMkLst>
        <pc:spChg chg="mod">
          <ac:chgData name="DEEKSHITHA YASARAPU" userId="16044d7fdb65b29e" providerId="LiveId" clId="{EDF7592A-4142-4838-A90A-73C98451121C}" dt="2026-09-20T18:34:28.579" v="25" actId="20577"/>
          <ac:spMkLst>
            <pc:docMk/>
            <pc:sldMk cId="1628902219" sldId="355"/>
            <ac:spMk id="3" creationId="{B813D625-CBBD-96B5-B22A-F5387E1F985D}"/>
          </ac:spMkLst>
        </pc:spChg>
      </pc:sldChg>
      <pc:sldChg chg="modSp mod">
        <pc:chgData name="DEEKSHITHA YASARAPU" userId="16044d7fdb65b29e" providerId="LiveId" clId="{EDF7592A-4142-4838-A90A-73C98451121C}" dt="2026-09-20T18:36:56.880" v="60" actId="5793"/>
        <pc:sldMkLst>
          <pc:docMk/>
          <pc:sldMk cId="1370569850" sldId="356"/>
        </pc:sldMkLst>
        <pc:spChg chg="mod">
          <ac:chgData name="DEEKSHITHA YASARAPU" userId="16044d7fdb65b29e" providerId="LiveId" clId="{EDF7592A-4142-4838-A90A-73C98451121C}" dt="2026-09-20T18:36:56.880" v="60" actId="5793"/>
          <ac:spMkLst>
            <pc:docMk/>
            <pc:sldMk cId="1370569850" sldId="356"/>
            <ac:spMk id="3" creationId="{A844771A-A19D-9479-121D-DADFAE30156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075" cy="465138"/>
          </a:xfrm>
          <a:prstGeom prst="rect">
            <a:avLst/>
          </a:prstGeom>
        </p:spPr>
        <p:txBody>
          <a:bodyPr vert="horz" lIns="92930" tIns="46465" rIns="92930" bIns="46465" rtlCol="0"/>
          <a:lstStyle>
            <a:lvl1pPr algn="l">
              <a:defRPr sz="1200"/>
            </a:lvl1pPr>
          </a:lstStyle>
          <a:p>
            <a:pPr>
              <a:defRPr/>
            </a:pPr>
            <a:endParaRPr lang="en-US"/>
          </a:p>
        </p:txBody>
      </p:sp>
      <p:sp>
        <p:nvSpPr>
          <p:cNvPr id="3" name="Date Placeholder 2"/>
          <p:cNvSpPr>
            <a:spLocks noGrp="1"/>
          </p:cNvSpPr>
          <p:nvPr>
            <p:ph type="dt" sz="quarter" idx="1"/>
          </p:nvPr>
        </p:nvSpPr>
        <p:spPr>
          <a:xfrm>
            <a:off x="3940175" y="0"/>
            <a:ext cx="3013075" cy="465138"/>
          </a:xfrm>
          <a:prstGeom prst="rect">
            <a:avLst/>
          </a:prstGeom>
        </p:spPr>
        <p:txBody>
          <a:bodyPr vert="horz" lIns="92930" tIns="46465" rIns="92930" bIns="46465" rtlCol="0"/>
          <a:lstStyle>
            <a:lvl1pPr algn="r">
              <a:defRPr sz="1200"/>
            </a:lvl1pPr>
          </a:lstStyle>
          <a:p>
            <a:pPr>
              <a:defRPr/>
            </a:pPr>
            <a:fld id="{0D537B2C-B9FD-47DB-91C4-8606B3AEE4E2}" type="datetimeFigureOut">
              <a:rPr lang="en-US"/>
              <a:pPr>
                <a:defRPr/>
              </a:pPr>
              <a:t>9/21/2026</a:t>
            </a:fld>
            <a:endParaRPr lang="en-US"/>
          </a:p>
        </p:txBody>
      </p:sp>
      <p:sp>
        <p:nvSpPr>
          <p:cNvPr id="4" name="Footer Placeholder 3"/>
          <p:cNvSpPr>
            <a:spLocks noGrp="1"/>
          </p:cNvSpPr>
          <p:nvPr>
            <p:ph type="ftr" sz="quarter" idx="2"/>
          </p:nvPr>
        </p:nvSpPr>
        <p:spPr>
          <a:xfrm>
            <a:off x="0" y="8842375"/>
            <a:ext cx="3013075" cy="465138"/>
          </a:xfrm>
          <a:prstGeom prst="rect">
            <a:avLst/>
          </a:prstGeom>
        </p:spPr>
        <p:txBody>
          <a:bodyPr vert="horz" lIns="92930" tIns="46465" rIns="92930" bIns="46465"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940175" y="8842375"/>
            <a:ext cx="3013075" cy="465138"/>
          </a:xfrm>
          <a:prstGeom prst="rect">
            <a:avLst/>
          </a:prstGeom>
        </p:spPr>
        <p:txBody>
          <a:bodyPr vert="horz" wrap="square" lIns="92930" tIns="46465" rIns="92930" bIns="46465" numCol="1" anchor="b" anchorCtr="0" compatLnSpc="1">
            <a:prstTxWarp prst="textNoShape">
              <a:avLst/>
            </a:prstTxWarp>
          </a:bodyPr>
          <a:lstStyle>
            <a:lvl1pPr algn="r">
              <a:defRPr sz="1200" smtClean="0"/>
            </a:lvl1pPr>
          </a:lstStyle>
          <a:p>
            <a:pPr>
              <a:defRPr/>
            </a:pPr>
            <a:fld id="{1FD847D6-CB21-4E2E-B3B5-6549624666A8}" type="slidenum">
              <a:rPr lang="en-US" altLang="en-US"/>
              <a:pPr>
                <a:defRPr/>
              </a:pPr>
              <a:t>‹#›</a:t>
            </a:fld>
            <a:endParaRPr lang="en-US" altLang="en-US"/>
          </a:p>
        </p:txBody>
      </p:sp>
    </p:spTree>
    <p:extLst>
      <p:ext uri="{BB962C8B-B14F-4D97-AF65-F5344CB8AC3E}">
        <p14:creationId xmlns:p14="http://schemas.microsoft.com/office/powerpoint/2010/main" val="246204080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075" cy="466725"/>
          </a:xfrm>
          <a:prstGeom prst="rect">
            <a:avLst/>
          </a:prstGeom>
        </p:spPr>
        <p:txBody>
          <a:bodyPr vert="horz" lIns="92930" tIns="46465" rIns="92930" bIns="46465"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940175" y="0"/>
            <a:ext cx="3013075" cy="466725"/>
          </a:xfrm>
          <a:prstGeom prst="rect">
            <a:avLst/>
          </a:prstGeom>
        </p:spPr>
        <p:txBody>
          <a:bodyPr vert="horz" lIns="92930" tIns="46465" rIns="92930" bIns="46465" rtlCol="0"/>
          <a:lstStyle>
            <a:lvl1pPr algn="r" eaLnBrk="1" fontAlgn="auto" hangingPunct="1">
              <a:spcBef>
                <a:spcPts val="0"/>
              </a:spcBef>
              <a:spcAft>
                <a:spcPts val="0"/>
              </a:spcAft>
              <a:defRPr sz="1200">
                <a:latin typeface="+mn-lt"/>
              </a:defRPr>
            </a:lvl1pPr>
          </a:lstStyle>
          <a:p>
            <a:pPr>
              <a:defRPr/>
            </a:pPr>
            <a:fld id="{4C3C39CB-B4C9-4DCE-AD9E-39F10ADFA5C3}" type="datetimeFigureOut">
              <a:rPr lang="en-US"/>
              <a:pPr>
                <a:defRPr/>
              </a:pPr>
              <a:t>9/21/2026</a:t>
            </a:fld>
            <a:endParaRPr lang="en-US"/>
          </a:p>
        </p:txBody>
      </p:sp>
      <p:sp>
        <p:nvSpPr>
          <p:cNvPr id="4" name="Slide Image Placeholder 3"/>
          <p:cNvSpPr>
            <a:spLocks noGrp="1" noRot="1" noChangeAspect="1"/>
          </p:cNvSpPr>
          <p:nvPr>
            <p:ph type="sldImg" idx="2"/>
          </p:nvPr>
        </p:nvSpPr>
        <p:spPr>
          <a:xfrm>
            <a:off x="685800" y="1163638"/>
            <a:ext cx="5583238" cy="3141662"/>
          </a:xfrm>
          <a:prstGeom prst="rect">
            <a:avLst/>
          </a:prstGeom>
          <a:noFill/>
          <a:ln w="12700">
            <a:solidFill>
              <a:prstClr val="black"/>
            </a:solidFill>
          </a:ln>
        </p:spPr>
        <p:txBody>
          <a:bodyPr vert="horz" lIns="92930" tIns="46465" rIns="92930" bIns="46465" rtlCol="0" anchor="ctr"/>
          <a:lstStyle/>
          <a:p>
            <a:pPr lvl="0"/>
            <a:endParaRPr lang="en-US" noProof="0"/>
          </a:p>
        </p:txBody>
      </p:sp>
      <p:sp>
        <p:nvSpPr>
          <p:cNvPr id="5" name="Notes Placeholder 4"/>
          <p:cNvSpPr>
            <a:spLocks noGrp="1"/>
          </p:cNvSpPr>
          <p:nvPr>
            <p:ph type="body" sz="quarter" idx="3"/>
          </p:nvPr>
        </p:nvSpPr>
        <p:spPr>
          <a:xfrm>
            <a:off x="695325" y="4479925"/>
            <a:ext cx="5564188" cy="3665538"/>
          </a:xfrm>
          <a:prstGeom prst="rect">
            <a:avLst/>
          </a:prstGeom>
        </p:spPr>
        <p:txBody>
          <a:bodyPr vert="horz" lIns="92930" tIns="46465" rIns="92930" bIns="46465"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42375"/>
            <a:ext cx="3013075" cy="466725"/>
          </a:xfrm>
          <a:prstGeom prst="rect">
            <a:avLst/>
          </a:prstGeom>
        </p:spPr>
        <p:txBody>
          <a:bodyPr vert="horz" lIns="92930" tIns="46465" rIns="92930" bIns="46465"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940175" y="8842375"/>
            <a:ext cx="3013075" cy="466725"/>
          </a:xfrm>
          <a:prstGeom prst="rect">
            <a:avLst/>
          </a:prstGeom>
        </p:spPr>
        <p:txBody>
          <a:bodyPr vert="horz" wrap="square" lIns="92930" tIns="46465" rIns="92930" bIns="46465" numCol="1" anchor="b" anchorCtr="0" compatLnSpc="1">
            <a:prstTxWarp prst="textNoShape">
              <a:avLst/>
            </a:prstTxWarp>
          </a:bodyPr>
          <a:lstStyle>
            <a:lvl1pPr algn="r" eaLnBrk="1" hangingPunct="1">
              <a:defRPr sz="1200" smtClean="0">
                <a:latin typeface="Calibri" pitchFamily="34" charset="0"/>
              </a:defRPr>
            </a:lvl1pPr>
          </a:lstStyle>
          <a:p>
            <a:pPr>
              <a:defRPr/>
            </a:pPr>
            <a:fld id="{2B3EF142-6F38-4AD1-AB0A-BFE2FCF31E19}" type="slidenum">
              <a:rPr lang="en-US" altLang="en-US"/>
              <a:pPr>
                <a:defRPr/>
              </a:pPr>
              <a:t>‹#›</a:t>
            </a:fld>
            <a:endParaRPr lang="en-US" altLang="en-US"/>
          </a:p>
        </p:txBody>
      </p:sp>
    </p:spTree>
    <p:extLst>
      <p:ext uri="{BB962C8B-B14F-4D97-AF65-F5344CB8AC3E}">
        <p14:creationId xmlns:p14="http://schemas.microsoft.com/office/powerpoint/2010/main" val="144300539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5" descr="Logo, company name&#10;&#10;Description automatically generated"/>
          <p:cNvPicPr>
            <a:picLocks noChangeAspect="1"/>
          </p:cNvPicPr>
          <p:nvPr userDrawn="1"/>
        </p:nvPicPr>
        <p:blipFill>
          <a:blip r:embed="rId2"/>
          <a:srcRect/>
          <a:stretch>
            <a:fillRect/>
          </a:stretch>
        </p:blipFill>
        <p:spPr bwMode="auto">
          <a:xfrm>
            <a:off x="5505450" y="20638"/>
            <a:ext cx="1181100" cy="1101725"/>
          </a:xfrm>
          <a:prstGeom prst="rect">
            <a:avLst/>
          </a:prstGeom>
          <a:noFill/>
          <a:ln w="9525">
            <a:noFill/>
            <a:miter lim="800000"/>
            <a:headEnd/>
            <a:tailEnd/>
          </a:ln>
        </p:spPr>
      </p:pic>
      <p:pic>
        <p:nvPicPr>
          <p:cNvPr id="5" name="Picture 2"/>
          <p:cNvPicPr>
            <a:picLocks noChangeAspect="1" noChangeArrowheads="1"/>
          </p:cNvPicPr>
          <p:nvPr userDrawn="1"/>
        </p:nvPicPr>
        <p:blipFill>
          <a:blip r:embed="rId3"/>
          <a:srcRect/>
          <a:stretch>
            <a:fillRect/>
          </a:stretch>
        </p:blipFill>
        <p:spPr bwMode="auto">
          <a:xfrm>
            <a:off x="5159375" y="5467350"/>
            <a:ext cx="2260600" cy="798513"/>
          </a:xfrm>
          <a:prstGeom prst="rect">
            <a:avLst/>
          </a:prstGeom>
          <a:noFill/>
          <a:ln w="9525">
            <a:noFill/>
            <a:miter lim="800000"/>
            <a:headEnd/>
            <a:tailEnd/>
          </a:ln>
        </p:spPr>
      </p:pic>
      <p:sp>
        <p:nvSpPr>
          <p:cNvPr id="2" name="Title 1"/>
          <p:cNvSpPr>
            <a:spLocks noGrp="1"/>
          </p:cNvSpPr>
          <p:nvPr>
            <p:ph type="ctrTitle"/>
          </p:nvPr>
        </p:nvSpPr>
        <p:spPr>
          <a:xfrm>
            <a:off x="1524000" y="1960563"/>
            <a:ext cx="9144000" cy="1277937"/>
          </a:xfrm>
        </p:spPr>
        <p:txBody>
          <a:bodyPr anchor="b">
            <a:normAutofit/>
          </a:bodyPr>
          <a:lstStyle>
            <a:lvl1pPr algn="ctr">
              <a:defRPr sz="36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033462"/>
          </a:xfrm>
        </p:spPr>
        <p:txBody>
          <a:bodyPr/>
          <a:lstStyle>
            <a:lvl1pPr marL="0" indent="0" algn="ct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Date Placeholder 3"/>
          <p:cNvSpPr>
            <a:spLocks noGrp="1"/>
          </p:cNvSpPr>
          <p:nvPr>
            <p:ph type="dt" sz="half" idx="10"/>
          </p:nvPr>
        </p:nvSpPr>
        <p:spPr/>
        <p:txBody>
          <a:bodyPr/>
          <a:lstStyle>
            <a:lvl1pPr>
              <a:defRPr/>
            </a:lvl1pPr>
          </a:lstStyle>
          <a:p>
            <a:pPr>
              <a:defRPr/>
            </a:pPr>
            <a:fld id="{D6D4FF8A-0CBA-431B-8A13-7BC9272AEFC2}" type="datetime2">
              <a:rPr lang="en-US"/>
              <a:pPr>
                <a:defRPr/>
              </a:pPr>
              <a:t>Monday, September 21, 2026</a:t>
            </a:fld>
            <a:endParaRPr lang="en-US"/>
          </a:p>
        </p:txBody>
      </p:sp>
      <p:sp>
        <p:nvSpPr>
          <p:cNvPr id="7" name="Footer Placeholder 4"/>
          <p:cNvSpPr>
            <a:spLocks noGrp="1"/>
          </p:cNvSpPr>
          <p:nvPr>
            <p:ph type="ftr" sz="quarter" idx="11"/>
          </p:nvPr>
        </p:nvSpPr>
        <p:spPr/>
        <p:txBody>
          <a:bodyPr/>
          <a:lstStyle>
            <a:lvl1pPr>
              <a:defRPr/>
            </a:lvl1pPr>
          </a:lstStyle>
          <a:p>
            <a:pPr>
              <a:defRPr/>
            </a:pPr>
            <a:r>
              <a:rPr lang="en-US"/>
              <a:t>© BVRIT CSE</a:t>
            </a:r>
          </a:p>
        </p:txBody>
      </p:sp>
      <p:sp>
        <p:nvSpPr>
          <p:cNvPr id="8" name="Slide Number Placeholder 5"/>
          <p:cNvSpPr>
            <a:spLocks noGrp="1"/>
          </p:cNvSpPr>
          <p:nvPr>
            <p:ph type="sldNum" sz="quarter" idx="12"/>
          </p:nvPr>
        </p:nvSpPr>
        <p:spPr/>
        <p:txBody>
          <a:bodyPr/>
          <a:lstStyle>
            <a:lvl1pPr>
              <a:defRPr smtClean="0"/>
            </a:lvl1pPr>
          </a:lstStyle>
          <a:p>
            <a:pPr>
              <a:defRPr/>
            </a:pPr>
            <a:fld id="{5FBF479A-0BDD-48BE-92E1-39A5437B6BC8}" type="slidenum">
              <a:rPr lang="en-US" altLang="en-US"/>
              <a:pPr>
                <a:defRPr/>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4" name="Group 4"/>
          <p:cNvGrpSpPr>
            <a:grpSpLocks/>
          </p:cNvGrpSpPr>
          <p:nvPr userDrawn="1"/>
        </p:nvGrpSpPr>
        <p:grpSpPr bwMode="auto">
          <a:xfrm>
            <a:off x="7240588" y="6302375"/>
            <a:ext cx="4489450" cy="0"/>
            <a:chOff x="7230414" y="6467118"/>
            <a:chExt cx="4489361" cy="0"/>
          </a:xfrm>
        </p:grpSpPr>
        <p:cxnSp>
          <p:nvCxnSpPr>
            <p:cNvPr id="5" name="Straight Connector 4"/>
            <p:cNvCxnSpPr>
              <a:cxnSpLocks/>
            </p:cNvCxnSpPr>
            <p:nvPr/>
          </p:nvCxnSpPr>
          <p:spPr>
            <a:xfrm>
              <a:off x="10238666" y="6467118"/>
              <a:ext cx="1481109" cy="0"/>
            </a:xfrm>
            <a:prstGeom prst="line">
              <a:avLst/>
            </a:prstGeom>
            <a:ln w="28575">
              <a:solidFill>
                <a:srgbClr val="A4238F"/>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a:cxnSpLocks/>
            </p:cNvCxnSpPr>
            <p:nvPr/>
          </p:nvCxnSpPr>
          <p:spPr>
            <a:xfrm>
              <a:off x="8686122" y="6467118"/>
              <a:ext cx="1539844" cy="0"/>
            </a:xfrm>
            <a:prstGeom prst="line">
              <a:avLst/>
            </a:prstGeom>
            <a:ln w="28575">
              <a:solidFill>
                <a:srgbClr val="A7CE39"/>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cxnSpLocks/>
            </p:cNvCxnSpPr>
            <p:nvPr/>
          </p:nvCxnSpPr>
          <p:spPr>
            <a:xfrm>
              <a:off x="7230414" y="6467118"/>
              <a:ext cx="1538257" cy="0"/>
            </a:xfrm>
            <a:prstGeom prst="line">
              <a:avLst/>
            </a:prstGeom>
            <a:ln w="28575">
              <a:solidFill>
                <a:srgbClr val="F58221"/>
              </a:solidFill>
            </a:ln>
          </p:spPr>
          <p:style>
            <a:lnRef idx="1">
              <a:schemeClr val="accent1"/>
            </a:lnRef>
            <a:fillRef idx="0">
              <a:schemeClr val="accent1"/>
            </a:fillRef>
            <a:effectRef idx="0">
              <a:schemeClr val="accent1"/>
            </a:effectRef>
            <a:fontRef idx="minor">
              <a:schemeClr val="tx1"/>
            </a:fontRef>
          </p:style>
        </p:cxnSp>
      </p:grpSp>
      <p:cxnSp>
        <p:nvCxnSpPr>
          <p:cNvPr id="8" name="Straight Connector 7"/>
          <p:cNvCxnSpPr>
            <a:cxnSpLocks/>
          </p:cNvCxnSpPr>
          <p:nvPr userDrawn="1"/>
        </p:nvCxnSpPr>
        <p:spPr>
          <a:xfrm flipV="1">
            <a:off x="119063" y="895350"/>
            <a:ext cx="4351337" cy="2540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pic>
        <p:nvPicPr>
          <p:cNvPr id="9" name="Picture 15"/>
          <p:cNvPicPr>
            <a:picLocks noChangeAspect="1"/>
          </p:cNvPicPr>
          <p:nvPr userDrawn="1"/>
        </p:nvPicPr>
        <p:blipFill>
          <a:blip r:embed="rId2"/>
          <a:srcRect/>
          <a:stretch>
            <a:fillRect/>
          </a:stretch>
        </p:blipFill>
        <p:spPr bwMode="auto">
          <a:xfrm>
            <a:off x="255588" y="138113"/>
            <a:ext cx="827087" cy="611187"/>
          </a:xfrm>
          <a:prstGeom prst="rect">
            <a:avLst/>
          </a:prstGeom>
          <a:noFill/>
          <a:ln w="9525">
            <a:noFill/>
            <a:miter lim="800000"/>
            <a:headEnd/>
            <a:tailEnd/>
          </a:ln>
        </p:spPr>
      </p:pic>
      <p:pic>
        <p:nvPicPr>
          <p:cNvPr id="10" name="Picture 2"/>
          <p:cNvPicPr>
            <a:picLocks noChangeAspect="1" noChangeArrowheads="1"/>
          </p:cNvPicPr>
          <p:nvPr userDrawn="1"/>
        </p:nvPicPr>
        <p:blipFill>
          <a:blip r:embed="rId3"/>
          <a:srcRect/>
          <a:stretch>
            <a:fillRect/>
          </a:stretch>
        </p:blipFill>
        <p:spPr bwMode="auto">
          <a:xfrm>
            <a:off x="10990263" y="138113"/>
            <a:ext cx="1000125" cy="560387"/>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lgn="just">
              <a:defRPr b="0">
                <a:solidFill>
                  <a:schemeClr val="tx1"/>
                </a:solidFill>
              </a:defRPr>
            </a:lvl1pPr>
            <a:lvl2pPr algn="just">
              <a:defRPr b="0">
                <a:solidFill>
                  <a:schemeClr val="tx1"/>
                </a:solidFill>
              </a:defRPr>
            </a:lvl2pPr>
            <a:lvl3pPr algn="just">
              <a:defRPr b="0">
                <a:solidFill>
                  <a:schemeClr val="tx1"/>
                </a:solidFill>
              </a:defRPr>
            </a:lvl3pPr>
            <a:lvl4pPr algn="just">
              <a:defRPr b="0">
                <a:solidFill>
                  <a:schemeClr val="tx1"/>
                </a:solidFill>
              </a:defRPr>
            </a:lvl4pPr>
            <a:lvl5pPr algn="just">
              <a:defRPr b="0">
                <a:solidFill>
                  <a:schemeClr val="tx1"/>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Date Placeholder 3"/>
          <p:cNvSpPr>
            <a:spLocks noGrp="1"/>
          </p:cNvSpPr>
          <p:nvPr>
            <p:ph type="dt" sz="half" idx="10"/>
          </p:nvPr>
        </p:nvSpPr>
        <p:spPr/>
        <p:txBody>
          <a:bodyPr/>
          <a:lstStyle>
            <a:lvl1pPr>
              <a:defRPr/>
            </a:lvl1pPr>
          </a:lstStyle>
          <a:p>
            <a:pPr>
              <a:defRPr/>
            </a:pPr>
            <a:fld id="{6907BCE9-832B-4CF1-A300-CFAFFA53FA5E}" type="datetime2">
              <a:rPr lang="en-US"/>
              <a:pPr>
                <a:defRPr/>
              </a:pPr>
              <a:t>Monday, September 21, 2026</a:t>
            </a:fld>
            <a:endParaRPr lang="en-US"/>
          </a:p>
        </p:txBody>
      </p:sp>
      <p:sp>
        <p:nvSpPr>
          <p:cNvPr id="12" name="Footer Placeholder 4"/>
          <p:cNvSpPr>
            <a:spLocks noGrp="1"/>
          </p:cNvSpPr>
          <p:nvPr>
            <p:ph type="ftr" sz="quarter" idx="11"/>
          </p:nvPr>
        </p:nvSpPr>
        <p:spPr/>
        <p:txBody>
          <a:bodyPr/>
          <a:lstStyle>
            <a:lvl1pPr>
              <a:defRPr/>
            </a:lvl1pPr>
          </a:lstStyle>
          <a:p>
            <a:pPr>
              <a:defRPr/>
            </a:pPr>
            <a:r>
              <a:rPr lang="en-US"/>
              <a:t>© BVRIT CSE</a:t>
            </a:r>
          </a:p>
        </p:txBody>
      </p:sp>
      <p:sp>
        <p:nvSpPr>
          <p:cNvPr id="13" name="Slide Number Placeholder 5"/>
          <p:cNvSpPr>
            <a:spLocks noGrp="1"/>
          </p:cNvSpPr>
          <p:nvPr>
            <p:ph type="sldNum" sz="quarter" idx="12"/>
          </p:nvPr>
        </p:nvSpPr>
        <p:spPr/>
        <p:txBody>
          <a:bodyPr/>
          <a:lstStyle>
            <a:lvl1pPr>
              <a:defRPr smtClean="0"/>
            </a:lvl1pPr>
          </a:lstStyle>
          <a:p>
            <a:pPr>
              <a:defRPr/>
            </a:pPr>
            <a:fld id="{2D96E056-3901-41CB-802B-E67DADB7F3B2}" type="slidenum">
              <a:rPr lang="en-US" altLang="en-US"/>
              <a:pPr>
                <a:defRPr/>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normAutofit/>
          </a:bodyPr>
          <a:lstStyle>
            <a:lvl1pPr algn="ctr">
              <a:defRPr sz="4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just">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lvl1pPr>
              <a:defRPr/>
            </a:lvl1pPr>
          </a:lstStyle>
          <a:p>
            <a:pPr>
              <a:defRPr/>
            </a:pPr>
            <a:fld id="{3AF6F644-C6FC-4C8D-99F7-70852434A2AB}" type="datetime2">
              <a:rPr lang="en-US"/>
              <a:pPr>
                <a:defRPr/>
              </a:pPr>
              <a:t>Monday, September 21, 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 BVRIT CSE</a:t>
            </a:r>
          </a:p>
        </p:txBody>
      </p:sp>
      <p:sp>
        <p:nvSpPr>
          <p:cNvPr id="6" name="Slide Number Placeholder 5"/>
          <p:cNvSpPr>
            <a:spLocks noGrp="1"/>
          </p:cNvSpPr>
          <p:nvPr>
            <p:ph type="sldNum" sz="quarter" idx="12"/>
          </p:nvPr>
        </p:nvSpPr>
        <p:spPr/>
        <p:txBody>
          <a:bodyPr/>
          <a:lstStyle>
            <a:lvl1pPr>
              <a:defRPr/>
            </a:lvl1pPr>
          </a:lstStyle>
          <a:p>
            <a:pPr>
              <a:defRPr/>
            </a:pPr>
            <a:fld id="{E759A464-761B-497E-A9EC-21A070F834F6}" type="slidenum">
              <a:rPr lang="en-US" altLang="en-US"/>
              <a:pPr>
                <a:defRPr/>
              </a:pPr>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5" name="Group 6"/>
          <p:cNvGrpSpPr>
            <a:grpSpLocks/>
          </p:cNvGrpSpPr>
          <p:nvPr userDrawn="1"/>
        </p:nvGrpSpPr>
        <p:grpSpPr bwMode="auto">
          <a:xfrm>
            <a:off x="7240588" y="6302375"/>
            <a:ext cx="4489450" cy="0"/>
            <a:chOff x="7230414" y="6467118"/>
            <a:chExt cx="4489361" cy="0"/>
          </a:xfrm>
        </p:grpSpPr>
        <p:cxnSp>
          <p:nvCxnSpPr>
            <p:cNvPr id="6" name="Straight Connector 5"/>
            <p:cNvCxnSpPr>
              <a:cxnSpLocks/>
            </p:cNvCxnSpPr>
            <p:nvPr/>
          </p:nvCxnSpPr>
          <p:spPr>
            <a:xfrm>
              <a:off x="10238666" y="6467118"/>
              <a:ext cx="1481109" cy="0"/>
            </a:xfrm>
            <a:prstGeom prst="line">
              <a:avLst/>
            </a:prstGeom>
            <a:ln w="28575">
              <a:solidFill>
                <a:srgbClr val="A4238F"/>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a:cxnSpLocks/>
            </p:cNvCxnSpPr>
            <p:nvPr/>
          </p:nvCxnSpPr>
          <p:spPr>
            <a:xfrm>
              <a:off x="8686122" y="6467118"/>
              <a:ext cx="1539844" cy="0"/>
            </a:xfrm>
            <a:prstGeom prst="line">
              <a:avLst/>
            </a:prstGeom>
            <a:ln w="28575">
              <a:solidFill>
                <a:srgbClr val="A7CE39"/>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a:cxnSpLocks/>
            </p:cNvCxnSpPr>
            <p:nvPr/>
          </p:nvCxnSpPr>
          <p:spPr>
            <a:xfrm>
              <a:off x="7230414" y="6467118"/>
              <a:ext cx="1538257" cy="0"/>
            </a:xfrm>
            <a:prstGeom prst="line">
              <a:avLst/>
            </a:prstGeom>
            <a:ln w="28575">
              <a:solidFill>
                <a:srgbClr val="F58221"/>
              </a:solidFill>
            </a:ln>
          </p:spPr>
          <p:style>
            <a:lnRef idx="1">
              <a:schemeClr val="accent1"/>
            </a:lnRef>
            <a:fillRef idx="0">
              <a:schemeClr val="accent1"/>
            </a:fillRef>
            <a:effectRef idx="0">
              <a:schemeClr val="accent1"/>
            </a:effectRef>
            <a:fontRef idx="minor">
              <a:schemeClr val="tx1"/>
            </a:fontRef>
          </p:style>
        </p:cxnSp>
      </p:grpSp>
      <p:cxnSp>
        <p:nvCxnSpPr>
          <p:cNvPr id="9" name="Straight Connector 8"/>
          <p:cNvCxnSpPr>
            <a:cxnSpLocks/>
          </p:cNvCxnSpPr>
          <p:nvPr userDrawn="1"/>
        </p:nvCxnSpPr>
        <p:spPr>
          <a:xfrm flipV="1">
            <a:off x="119063" y="895350"/>
            <a:ext cx="4351337" cy="25400"/>
          </a:xfrm>
          <a:prstGeom prst="line">
            <a:avLst/>
          </a:prstGeom>
          <a:ln w="57150">
            <a:solidFill>
              <a:srgbClr val="002060"/>
            </a:solidFill>
          </a:ln>
        </p:spPr>
        <p:style>
          <a:lnRef idx="1">
            <a:schemeClr val="accent1"/>
          </a:lnRef>
          <a:fillRef idx="0">
            <a:schemeClr val="accent1"/>
          </a:fillRef>
          <a:effectRef idx="0">
            <a:schemeClr val="accent1"/>
          </a:effectRef>
          <a:fontRef idx="minor">
            <a:schemeClr val="tx1"/>
          </a:fontRef>
        </p:style>
      </p:cxnSp>
      <p:pic>
        <p:nvPicPr>
          <p:cNvPr id="10" name="Picture 15"/>
          <p:cNvPicPr>
            <a:picLocks noChangeAspect="1"/>
          </p:cNvPicPr>
          <p:nvPr userDrawn="1"/>
        </p:nvPicPr>
        <p:blipFill>
          <a:blip r:embed="rId2"/>
          <a:srcRect/>
          <a:stretch>
            <a:fillRect/>
          </a:stretch>
        </p:blipFill>
        <p:spPr bwMode="auto">
          <a:xfrm>
            <a:off x="255588" y="138113"/>
            <a:ext cx="827087" cy="611187"/>
          </a:xfrm>
          <a:prstGeom prst="rect">
            <a:avLst/>
          </a:prstGeom>
          <a:noFill/>
          <a:ln w="9525">
            <a:noFill/>
            <a:miter lim="800000"/>
            <a:headEnd/>
            <a:tailEnd/>
          </a:ln>
        </p:spPr>
      </p:pic>
      <p:pic>
        <p:nvPicPr>
          <p:cNvPr id="11" name="Picture 2"/>
          <p:cNvPicPr>
            <a:picLocks noChangeAspect="1" noChangeArrowheads="1"/>
          </p:cNvPicPr>
          <p:nvPr userDrawn="1"/>
        </p:nvPicPr>
        <p:blipFill>
          <a:blip r:embed="rId3"/>
          <a:srcRect/>
          <a:stretch>
            <a:fillRect/>
          </a:stretch>
        </p:blipFill>
        <p:spPr bwMode="auto">
          <a:xfrm>
            <a:off x="10990263" y="138113"/>
            <a:ext cx="1000125" cy="560387"/>
          </a:xfrm>
          <a:prstGeom prst="rect">
            <a:avLst/>
          </a:prstGeom>
          <a:noFill/>
          <a:ln w="9525">
            <a:noFill/>
            <a:miter lim="800000"/>
            <a:headEnd/>
            <a:tailEnd/>
          </a:ln>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0509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0509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Date Placeholder 4"/>
          <p:cNvSpPr>
            <a:spLocks noGrp="1"/>
          </p:cNvSpPr>
          <p:nvPr>
            <p:ph type="dt" sz="half" idx="10"/>
          </p:nvPr>
        </p:nvSpPr>
        <p:spPr/>
        <p:txBody>
          <a:bodyPr/>
          <a:lstStyle>
            <a:lvl1pPr>
              <a:defRPr/>
            </a:lvl1pPr>
          </a:lstStyle>
          <a:p>
            <a:pPr>
              <a:defRPr/>
            </a:pPr>
            <a:fld id="{859451DD-614E-4DCA-B961-94FF1A1ADA57}" type="datetime2">
              <a:rPr lang="en-US"/>
              <a:pPr>
                <a:defRPr/>
              </a:pPr>
              <a:t>Monday, September 21, 2026</a:t>
            </a:fld>
            <a:endParaRPr lang="en-US"/>
          </a:p>
        </p:txBody>
      </p:sp>
      <p:sp>
        <p:nvSpPr>
          <p:cNvPr id="13" name="Footer Placeholder 5"/>
          <p:cNvSpPr>
            <a:spLocks noGrp="1"/>
          </p:cNvSpPr>
          <p:nvPr>
            <p:ph type="ftr" sz="quarter" idx="11"/>
          </p:nvPr>
        </p:nvSpPr>
        <p:spPr/>
        <p:txBody>
          <a:bodyPr/>
          <a:lstStyle>
            <a:lvl1pPr>
              <a:defRPr/>
            </a:lvl1pPr>
          </a:lstStyle>
          <a:p>
            <a:pPr>
              <a:defRPr/>
            </a:pPr>
            <a:r>
              <a:rPr lang="en-US"/>
              <a:t>© BVRIT CSE</a:t>
            </a:r>
          </a:p>
        </p:txBody>
      </p:sp>
      <p:sp>
        <p:nvSpPr>
          <p:cNvPr id="14" name="Slide Number Placeholder 6"/>
          <p:cNvSpPr>
            <a:spLocks noGrp="1"/>
          </p:cNvSpPr>
          <p:nvPr>
            <p:ph type="sldNum" sz="quarter" idx="12"/>
          </p:nvPr>
        </p:nvSpPr>
        <p:spPr/>
        <p:txBody>
          <a:bodyPr/>
          <a:lstStyle>
            <a:lvl1pPr>
              <a:defRPr smtClean="0"/>
            </a:lvl1pPr>
          </a:lstStyle>
          <a:p>
            <a:pPr>
              <a:defRPr/>
            </a:pPr>
            <a:fld id="{943A295C-00CF-4B3D-B3C7-2A9DC3CDDE75}" type="slidenum">
              <a:rPr lang="en-US" altLang="en-US"/>
              <a:pPr>
                <a:defRPr/>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1128713" y="138113"/>
            <a:ext cx="9767887" cy="5953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en-US"/>
              <a:t>Uday</a:t>
            </a:r>
          </a:p>
        </p:txBody>
      </p:sp>
      <p:sp>
        <p:nvSpPr>
          <p:cNvPr id="1027" name="Text Placeholder 2"/>
          <p:cNvSpPr>
            <a:spLocks noGrp="1"/>
          </p:cNvSpPr>
          <p:nvPr>
            <p:ph type="body" idx="1"/>
          </p:nvPr>
        </p:nvSpPr>
        <p:spPr bwMode="auto">
          <a:xfrm>
            <a:off x="1128713" y="1090613"/>
            <a:ext cx="9767887" cy="48180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400" b="1">
                <a:solidFill>
                  <a:srgbClr val="002060"/>
                </a:solidFill>
                <a:latin typeface="+mn-lt"/>
              </a:defRPr>
            </a:lvl1pPr>
          </a:lstStyle>
          <a:p>
            <a:pPr>
              <a:defRPr/>
            </a:pPr>
            <a:fld id="{453AA481-BFE3-42B3-A623-3169D7EACBAD}" type="datetime2">
              <a:rPr lang="en-US"/>
              <a:pPr>
                <a:defRPr/>
              </a:pPr>
              <a:t>Monday, September 21, 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400" b="1">
                <a:solidFill>
                  <a:srgbClr val="002060"/>
                </a:solidFill>
                <a:latin typeface="+mn-lt"/>
              </a:defRPr>
            </a:lvl1pPr>
          </a:lstStyle>
          <a:p>
            <a:pPr>
              <a:defRPr/>
            </a:pPr>
            <a:r>
              <a:rPr lang="en-US"/>
              <a:t>© BVRIT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400" b="1" smtClean="0">
                <a:solidFill>
                  <a:srgbClr val="002060"/>
                </a:solidFill>
              </a:defRPr>
            </a:lvl1pPr>
          </a:lstStyle>
          <a:p>
            <a:pPr>
              <a:defRPr/>
            </a:pPr>
            <a:fld id="{A8FB41C8-7EC4-4FC4-9E8F-BA3A610E8B4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888" r:id="rId1"/>
    <p:sldLayoutId id="2147483889" r:id="rId2"/>
    <p:sldLayoutId id="2147483887" r:id="rId3"/>
    <p:sldLayoutId id="2147483890" r:id="rId4"/>
  </p:sldLayoutIdLst>
  <p:hf hdr="0"/>
  <p:txStyles>
    <p:titleStyle>
      <a:lvl1pPr algn="l" rtl="0" eaLnBrk="0" fontAlgn="base" hangingPunct="0">
        <a:lnSpc>
          <a:spcPct val="90000"/>
        </a:lnSpc>
        <a:spcBef>
          <a:spcPct val="0"/>
        </a:spcBef>
        <a:spcAft>
          <a:spcPct val="0"/>
        </a:spcAft>
        <a:defRPr sz="2800" b="1" kern="1200">
          <a:solidFill>
            <a:srgbClr val="002060"/>
          </a:solidFill>
          <a:latin typeface="+mj-lt"/>
          <a:ea typeface="+mj-ea"/>
          <a:cs typeface="+mj-cs"/>
        </a:defRPr>
      </a:lvl1pPr>
      <a:lvl2pPr algn="l" rtl="0" eaLnBrk="0" fontAlgn="base" hangingPunct="0">
        <a:lnSpc>
          <a:spcPct val="90000"/>
        </a:lnSpc>
        <a:spcBef>
          <a:spcPct val="0"/>
        </a:spcBef>
        <a:spcAft>
          <a:spcPct val="0"/>
        </a:spcAft>
        <a:defRPr sz="2800" b="1">
          <a:solidFill>
            <a:srgbClr val="002060"/>
          </a:solidFill>
          <a:latin typeface="Bookman Old Style" panose="02050604050505020204" pitchFamily="18" charset="0"/>
        </a:defRPr>
      </a:lvl2pPr>
      <a:lvl3pPr algn="l" rtl="0" eaLnBrk="0" fontAlgn="base" hangingPunct="0">
        <a:lnSpc>
          <a:spcPct val="90000"/>
        </a:lnSpc>
        <a:spcBef>
          <a:spcPct val="0"/>
        </a:spcBef>
        <a:spcAft>
          <a:spcPct val="0"/>
        </a:spcAft>
        <a:defRPr sz="2800" b="1">
          <a:solidFill>
            <a:srgbClr val="002060"/>
          </a:solidFill>
          <a:latin typeface="Bookman Old Style" panose="02050604050505020204" pitchFamily="18" charset="0"/>
        </a:defRPr>
      </a:lvl3pPr>
      <a:lvl4pPr algn="l" rtl="0" eaLnBrk="0" fontAlgn="base" hangingPunct="0">
        <a:lnSpc>
          <a:spcPct val="90000"/>
        </a:lnSpc>
        <a:spcBef>
          <a:spcPct val="0"/>
        </a:spcBef>
        <a:spcAft>
          <a:spcPct val="0"/>
        </a:spcAft>
        <a:defRPr sz="2800" b="1">
          <a:solidFill>
            <a:srgbClr val="002060"/>
          </a:solidFill>
          <a:latin typeface="Bookman Old Style" panose="02050604050505020204" pitchFamily="18" charset="0"/>
        </a:defRPr>
      </a:lvl4pPr>
      <a:lvl5pPr algn="l" rtl="0" eaLnBrk="0" fontAlgn="base" hangingPunct="0">
        <a:lnSpc>
          <a:spcPct val="90000"/>
        </a:lnSpc>
        <a:spcBef>
          <a:spcPct val="0"/>
        </a:spcBef>
        <a:spcAft>
          <a:spcPct val="0"/>
        </a:spcAft>
        <a:defRPr sz="2800" b="1">
          <a:solidFill>
            <a:srgbClr val="002060"/>
          </a:solidFill>
          <a:latin typeface="Bookman Old Style" panose="02050604050505020204" pitchFamily="18" charset="0"/>
        </a:defRPr>
      </a:lvl5pPr>
      <a:lvl6pPr marL="457200" algn="l" rtl="0" fontAlgn="base">
        <a:lnSpc>
          <a:spcPct val="90000"/>
        </a:lnSpc>
        <a:spcBef>
          <a:spcPct val="0"/>
        </a:spcBef>
        <a:spcAft>
          <a:spcPct val="0"/>
        </a:spcAft>
        <a:defRPr sz="2800" b="1">
          <a:solidFill>
            <a:srgbClr val="002060"/>
          </a:solidFill>
          <a:latin typeface="Bookman Old Style" panose="02050604050505020204" pitchFamily="18" charset="0"/>
        </a:defRPr>
      </a:lvl6pPr>
      <a:lvl7pPr marL="914400" algn="l" rtl="0" fontAlgn="base">
        <a:lnSpc>
          <a:spcPct val="90000"/>
        </a:lnSpc>
        <a:spcBef>
          <a:spcPct val="0"/>
        </a:spcBef>
        <a:spcAft>
          <a:spcPct val="0"/>
        </a:spcAft>
        <a:defRPr sz="2800" b="1">
          <a:solidFill>
            <a:srgbClr val="002060"/>
          </a:solidFill>
          <a:latin typeface="Bookman Old Style" panose="02050604050505020204" pitchFamily="18" charset="0"/>
        </a:defRPr>
      </a:lvl7pPr>
      <a:lvl8pPr marL="1371600" algn="l" rtl="0" fontAlgn="base">
        <a:lnSpc>
          <a:spcPct val="90000"/>
        </a:lnSpc>
        <a:spcBef>
          <a:spcPct val="0"/>
        </a:spcBef>
        <a:spcAft>
          <a:spcPct val="0"/>
        </a:spcAft>
        <a:defRPr sz="2800" b="1">
          <a:solidFill>
            <a:srgbClr val="002060"/>
          </a:solidFill>
          <a:latin typeface="Bookman Old Style" panose="02050604050505020204" pitchFamily="18" charset="0"/>
        </a:defRPr>
      </a:lvl8pPr>
      <a:lvl9pPr marL="1828800" algn="l" rtl="0" fontAlgn="base">
        <a:lnSpc>
          <a:spcPct val="90000"/>
        </a:lnSpc>
        <a:spcBef>
          <a:spcPct val="0"/>
        </a:spcBef>
        <a:spcAft>
          <a:spcPct val="0"/>
        </a:spcAft>
        <a:defRPr sz="2800" b="1">
          <a:solidFill>
            <a:srgbClr val="002060"/>
          </a:solidFill>
          <a:latin typeface="Bookman Old Style" panose="02050604050505020204" pitchFamily="18" charset="0"/>
        </a:defRPr>
      </a:lvl9pPr>
    </p:titleStyle>
    <p:bodyStyle>
      <a:lvl1pPr marL="228600" indent="-228600" algn="just" rtl="0" eaLnBrk="0" fontAlgn="base" hangingPunct="0">
        <a:lnSpc>
          <a:spcPct val="90000"/>
        </a:lnSpc>
        <a:spcBef>
          <a:spcPts val="1000"/>
        </a:spcBef>
        <a:spcAft>
          <a:spcPct val="0"/>
        </a:spcAft>
        <a:buFont typeface="Arial" charset="0"/>
        <a:buChar char="•"/>
        <a:defRPr sz="3200" kern="1200">
          <a:solidFill>
            <a:schemeClr val="tx1"/>
          </a:solidFill>
          <a:latin typeface="+mn-lt"/>
          <a:ea typeface="+mn-ea"/>
          <a:cs typeface="+mn-cs"/>
        </a:defRPr>
      </a:lvl1pPr>
      <a:lvl2pPr marL="685800" indent="-228600" algn="just" rtl="0" eaLnBrk="0" fontAlgn="base" hangingPunct="0">
        <a:lnSpc>
          <a:spcPct val="90000"/>
        </a:lnSpc>
        <a:spcBef>
          <a:spcPts val="500"/>
        </a:spcBef>
        <a:spcAft>
          <a:spcPct val="0"/>
        </a:spcAft>
        <a:buFont typeface="Arial" charset="0"/>
        <a:buChar char="•"/>
        <a:defRPr sz="2800" kern="1200">
          <a:solidFill>
            <a:schemeClr val="tx1"/>
          </a:solidFill>
          <a:latin typeface="+mn-lt"/>
          <a:ea typeface="+mn-ea"/>
          <a:cs typeface="+mn-cs"/>
        </a:defRPr>
      </a:lvl2pPr>
      <a:lvl3pPr marL="1143000" indent="-228600" algn="just"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3pPr>
      <a:lvl4pPr marL="1600200" indent="-228600" algn="just"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4pPr>
      <a:lvl5pPr marL="2057400" indent="-228600" algn="just"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12.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a:xfrm>
            <a:off x="292100" y="1142728"/>
            <a:ext cx="11899900" cy="1049338"/>
          </a:xfrm>
        </p:spPr>
        <p:txBody>
          <a:bodyPr>
            <a:normAutofit fontScale="90000"/>
          </a:bodyPr>
          <a:lstStyle/>
          <a:p>
            <a:pPr eaLnBrk="1" hangingPunct="1">
              <a:defRPr/>
            </a:pPr>
            <a:r>
              <a:rPr lang="en-US" altLang="en-US" sz="4400" dirty="0">
                <a:latin typeface="Cambria" panose="02040503050406030204" pitchFamily="18" charset="0"/>
                <a:ea typeface="Cambria" panose="02040503050406030204" pitchFamily="18" charset="0"/>
              </a:rPr>
              <a:t>B V RAJU INSTITUTE OF TECHNOLOGY</a:t>
            </a:r>
            <a:br>
              <a:rPr lang="en-US" altLang="en-US" sz="4400" dirty="0"/>
            </a:br>
            <a:r>
              <a:rPr lang="en-US" altLang="en-US" sz="2000" dirty="0">
                <a:latin typeface="Cambria" panose="02040503050406030204" pitchFamily="18" charset="0"/>
                <a:ea typeface="Cambria" panose="02040503050406030204" pitchFamily="18" charset="0"/>
              </a:rPr>
              <a:t>(UGC Autonomous)</a:t>
            </a:r>
            <a:br>
              <a:rPr lang="en-US" altLang="en-US" sz="2000" dirty="0">
                <a:latin typeface="Cambria" panose="02040503050406030204" pitchFamily="18" charset="0"/>
                <a:ea typeface="Cambria" panose="02040503050406030204" pitchFamily="18" charset="0"/>
              </a:rPr>
            </a:br>
            <a:r>
              <a:rPr lang="en-US" altLang="en-US" sz="2000" dirty="0">
                <a:latin typeface="Cambria" panose="02040503050406030204" pitchFamily="18" charset="0"/>
                <a:ea typeface="Cambria" panose="02040503050406030204" pitchFamily="18" charset="0"/>
              </a:rPr>
              <a:t>Vishnupur, Narsapur, Medak District</a:t>
            </a:r>
            <a:endParaRPr lang="en-US" altLang="en-US" dirty="0">
              <a:latin typeface="Cambria" panose="02040503050406030204" pitchFamily="18" charset="0"/>
              <a:ea typeface="Cambria" panose="02040503050406030204" pitchFamily="18" charset="0"/>
            </a:endParaRPr>
          </a:p>
        </p:txBody>
      </p:sp>
      <p:sp>
        <p:nvSpPr>
          <p:cNvPr id="6147" name="Subtitle 2"/>
          <p:cNvSpPr>
            <a:spLocks noGrp="1"/>
          </p:cNvSpPr>
          <p:nvPr>
            <p:ph type="subTitle" idx="1"/>
          </p:nvPr>
        </p:nvSpPr>
        <p:spPr>
          <a:xfrm>
            <a:off x="1450885" y="2197192"/>
            <a:ext cx="9144000" cy="532946"/>
          </a:xfrm>
        </p:spPr>
        <p:txBody>
          <a:bodyPr/>
          <a:lstStyle/>
          <a:p>
            <a:pPr eaLnBrk="1" hangingPunct="1">
              <a:defRPr/>
            </a:pPr>
            <a:r>
              <a:rPr lang="en-US" altLang="en-US" dirty="0">
                <a:solidFill>
                  <a:schemeClr val="accent2">
                    <a:lumMod val="75000"/>
                  </a:schemeClr>
                </a:solidFill>
                <a:latin typeface="Cambria" panose="02040503050406030204" pitchFamily="18" charset="0"/>
                <a:ea typeface="Cambria" panose="02040503050406030204" pitchFamily="18" charset="0"/>
                <a:cs typeface="Cambria" panose="02040503050406030204" pitchFamily="18" charset="0"/>
              </a:rPr>
              <a:t>Department of Artificial Intelligence and Data Science</a:t>
            </a:r>
          </a:p>
          <a:p>
            <a:pPr eaLnBrk="1" hangingPunct="1">
              <a:buFont typeface="Arial" panose="020B0604020202020204" pitchFamily="34" charset="0"/>
              <a:buNone/>
              <a:defRPr/>
            </a:pPr>
            <a:r>
              <a:rPr lang="en-US" altLang="en-US" dirty="0">
                <a:solidFill>
                  <a:schemeClr val="accent2">
                    <a:lumMod val="75000"/>
                  </a:schemeClr>
                </a:solidFill>
                <a:latin typeface="Cambria" panose="02040503050406030204" pitchFamily="18" charset="0"/>
                <a:ea typeface="Cambria" panose="02040503050406030204" pitchFamily="18" charset="0"/>
                <a:cs typeface="Cambria" panose="02040503050406030204" pitchFamily="18" charset="0"/>
              </a:rPr>
              <a:t>Major Project – Requirement Analysis</a:t>
            </a:r>
          </a:p>
          <a:p>
            <a:pPr eaLnBrk="1" hangingPunct="1">
              <a:buFont typeface="Arial" panose="020B0604020202020204" pitchFamily="34" charset="0"/>
              <a:buNone/>
              <a:defRPr/>
            </a:pPr>
            <a:endParaRPr lang="en-US" altLang="en-US" dirty="0">
              <a:solidFill>
                <a:schemeClr val="accent2">
                  <a:lumMod val="75000"/>
                </a:schemeClr>
              </a:solidFill>
              <a:latin typeface="Cambria" panose="02040503050406030204" pitchFamily="18" charset="0"/>
              <a:ea typeface="Cambria" panose="02040503050406030204" pitchFamily="18" charset="0"/>
              <a:cs typeface="Cambria" panose="02040503050406030204" pitchFamily="18" charset="0"/>
            </a:endParaRPr>
          </a:p>
          <a:p>
            <a:pPr eaLnBrk="1" hangingPunct="1">
              <a:buFont typeface="Arial" panose="020B0604020202020204" pitchFamily="34" charset="0"/>
              <a:buNone/>
              <a:defRPr/>
            </a:pPr>
            <a:endParaRPr lang="en-US" altLang="en-US" dirty="0">
              <a:solidFill>
                <a:schemeClr val="accent2">
                  <a:lumMod val="75000"/>
                </a:schemeClr>
              </a:solidFill>
              <a:latin typeface="Cambria" panose="02040503050406030204" pitchFamily="18" charset="0"/>
              <a:ea typeface="Cambria" panose="02040503050406030204" pitchFamily="18" charset="0"/>
              <a:cs typeface="Cambria" panose="02040503050406030204" pitchFamily="18" charset="0"/>
            </a:endParaRPr>
          </a:p>
          <a:p>
            <a:pPr eaLnBrk="1" hangingPunct="1">
              <a:buFont typeface="Arial" panose="020B0604020202020204" pitchFamily="34" charset="0"/>
              <a:buNone/>
              <a:defRPr/>
            </a:pPr>
            <a:endParaRPr lang="en-US" altLang="en-US" dirty="0">
              <a:solidFill>
                <a:schemeClr val="accent2">
                  <a:lumMod val="75000"/>
                </a:schemeClr>
              </a:solidFill>
              <a:latin typeface="Cambria" panose="02040503050406030204" pitchFamily="18" charset="0"/>
              <a:ea typeface="Cambria" panose="02040503050406030204" pitchFamily="18" charset="0"/>
              <a:cs typeface="Cambria" panose="02040503050406030204" pitchFamily="18" charset="0"/>
            </a:endParaRPr>
          </a:p>
          <a:p>
            <a:pPr eaLnBrk="1" hangingPunct="1">
              <a:buFont typeface="Arial" panose="020B0604020202020204" pitchFamily="34" charset="0"/>
              <a:buNone/>
              <a:defRPr/>
            </a:pPr>
            <a:endParaRPr lang="en-US" altLang="en-US" dirty="0">
              <a:solidFill>
                <a:srgbClr val="002060"/>
              </a:solidFill>
              <a:latin typeface="Cambria" panose="02040503050406030204" pitchFamily="18" charset="0"/>
              <a:ea typeface="Cambria" panose="02040503050406030204" pitchFamily="18" charset="0"/>
              <a:cs typeface="Cambria" panose="02040503050406030204" pitchFamily="18" charset="0"/>
            </a:endParaRPr>
          </a:p>
          <a:p>
            <a:pPr eaLnBrk="1" hangingPunct="1">
              <a:buFont typeface="Arial" panose="020B0604020202020204" pitchFamily="34" charset="0"/>
              <a:buNone/>
              <a:defRPr/>
            </a:pPr>
            <a:endParaRPr lang="en-US" altLang="en-US" dirty="0">
              <a:solidFill>
                <a:srgbClr val="002060"/>
              </a:solidFill>
              <a:latin typeface="Cambria" panose="02040503050406030204" pitchFamily="18" charset="0"/>
              <a:ea typeface="Cambria" panose="02040503050406030204" pitchFamily="18" charset="0"/>
              <a:cs typeface="Cambria" panose="02040503050406030204" pitchFamily="18" charset="0"/>
            </a:endParaRPr>
          </a:p>
        </p:txBody>
      </p:sp>
      <p:sp>
        <p:nvSpPr>
          <p:cNvPr id="6" name="TextBox 5"/>
          <p:cNvSpPr txBox="1"/>
          <p:nvPr/>
        </p:nvSpPr>
        <p:spPr>
          <a:xfrm>
            <a:off x="698086" y="3266625"/>
            <a:ext cx="11087928" cy="646331"/>
          </a:xfrm>
          <a:prstGeom prst="rect">
            <a:avLst/>
          </a:prstGeom>
          <a:noFill/>
        </p:spPr>
        <p:txBody>
          <a:bodyPr wrap="square" rtlCol="0">
            <a:spAutoFit/>
          </a:bodyPr>
          <a:lstStyle/>
          <a:p>
            <a:pPr algn="ctr"/>
            <a:r>
              <a:rPr lang="en-US" b="1" dirty="0"/>
              <a:t>Title : </a:t>
            </a:r>
            <a:r>
              <a:rPr lang="en-IN" b="1" dirty="0" err="1"/>
              <a:t>Phy</a:t>
            </a:r>
            <a:r>
              <a:rPr lang="en-IN" b="1" dirty="0"/>
              <a:t>-DSTGNN: A Physics-Guided Directed Spatio-Temporal Graph Neural Network for Real-Time Urban Drainage Surcharge Prediction and Flood Early Warning</a:t>
            </a:r>
            <a:endParaRPr lang="en-US" b="1" dirty="0"/>
          </a:p>
        </p:txBody>
      </p:sp>
      <p:sp>
        <p:nvSpPr>
          <p:cNvPr id="10" name="TextBox 9"/>
          <p:cNvSpPr txBox="1"/>
          <p:nvPr/>
        </p:nvSpPr>
        <p:spPr>
          <a:xfrm>
            <a:off x="496882" y="4127863"/>
            <a:ext cx="3866606" cy="1200329"/>
          </a:xfrm>
          <a:prstGeom prst="rect">
            <a:avLst/>
          </a:prstGeom>
          <a:noFill/>
        </p:spPr>
        <p:txBody>
          <a:bodyPr wrap="square" rtlCol="0">
            <a:spAutoFit/>
          </a:bodyPr>
          <a:lstStyle/>
          <a:p>
            <a:r>
              <a:rPr lang="en-US" b="1" dirty="0"/>
              <a:t>By</a:t>
            </a:r>
            <a:r>
              <a:rPr lang="en-US" dirty="0"/>
              <a:t>:</a:t>
            </a:r>
          </a:p>
          <a:p>
            <a:r>
              <a:rPr lang="en-US" dirty="0"/>
              <a:t>23211A72C3 : Y. Deekshitha</a:t>
            </a:r>
          </a:p>
          <a:p>
            <a:r>
              <a:rPr lang="en-US" dirty="0"/>
              <a:t>23211A72C9 : K. Karunya</a:t>
            </a:r>
          </a:p>
          <a:p>
            <a:r>
              <a:rPr lang="en-US" dirty="0"/>
              <a:t>23211A72B2 : P. Srishanth</a:t>
            </a:r>
          </a:p>
        </p:txBody>
      </p:sp>
      <p:sp>
        <p:nvSpPr>
          <p:cNvPr id="11" name="TextBox 10"/>
          <p:cNvSpPr txBox="1"/>
          <p:nvPr/>
        </p:nvSpPr>
        <p:spPr>
          <a:xfrm>
            <a:off x="8254740" y="4206130"/>
            <a:ext cx="3605348" cy="1754326"/>
          </a:xfrm>
          <a:prstGeom prst="rect">
            <a:avLst/>
          </a:prstGeom>
          <a:noFill/>
        </p:spPr>
        <p:txBody>
          <a:bodyPr wrap="square" rtlCol="0">
            <a:spAutoFit/>
          </a:bodyPr>
          <a:lstStyle/>
          <a:p>
            <a:r>
              <a:rPr lang="en-US" b="1" dirty="0"/>
              <a:t>Guided By:</a:t>
            </a:r>
          </a:p>
          <a:p>
            <a:r>
              <a:rPr lang="en-US" dirty="0"/>
              <a:t>Mrs. N. Usha Rani ,</a:t>
            </a:r>
          </a:p>
          <a:p>
            <a:r>
              <a:rPr lang="en-US" dirty="0"/>
              <a:t>Assistant Professor,</a:t>
            </a:r>
          </a:p>
          <a:p>
            <a:r>
              <a:rPr lang="en-US" dirty="0"/>
              <a:t>Department of A1&amp;DS.</a:t>
            </a:r>
          </a:p>
          <a:p>
            <a:endParaRPr lang="en-US" dirty="0"/>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Outline</a:t>
            </a:r>
          </a:p>
        </p:txBody>
      </p:sp>
      <p:sp>
        <p:nvSpPr>
          <p:cNvPr id="6147" name="Content Placeholder 2"/>
          <p:cNvSpPr>
            <a:spLocks noGrp="1"/>
          </p:cNvSpPr>
          <p:nvPr>
            <p:ph idx="1"/>
          </p:nvPr>
        </p:nvSpPr>
        <p:spPr>
          <a:xfrm>
            <a:off x="738188" y="1077913"/>
            <a:ext cx="6111186" cy="5214937"/>
          </a:xfrm>
        </p:spPr>
        <p:txBody>
          <a:bodyPr/>
          <a:lstStyle/>
          <a:p>
            <a:pPr eaLnBrk="1" hangingPunct="1"/>
            <a:r>
              <a:rPr lang="en-US" altLang="en-US" sz="2000" b="1" dirty="0">
                <a:solidFill>
                  <a:srgbClr val="002060"/>
                </a:solidFill>
                <a:latin typeface="Cambria" pitchFamily="18" charset="0"/>
                <a:ea typeface="Cambria" pitchFamily="18" charset="0"/>
                <a:cs typeface="Cambria" pitchFamily="18" charset="0"/>
              </a:rPr>
              <a:t>Abstract</a:t>
            </a:r>
          </a:p>
          <a:p>
            <a:pPr eaLnBrk="1" hangingPunct="1"/>
            <a:r>
              <a:rPr lang="en-US" altLang="en-US" sz="2000" b="1" dirty="0">
                <a:solidFill>
                  <a:srgbClr val="002060"/>
                </a:solidFill>
                <a:latin typeface="Cambria" pitchFamily="18" charset="0"/>
                <a:ea typeface="Cambria" pitchFamily="18" charset="0"/>
                <a:cs typeface="Cambria" pitchFamily="18" charset="0"/>
              </a:rPr>
              <a:t>Literature Survey</a:t>
            </a:r>
          </a:p>
          <a:p>
            <a:pPr eaLnBrk="1" hangingPunct="1"/>
            <a:r>
              <a:rPr lang="en-US" altLang="en-US" sz="2000" b="1" dirty="0">
                <a:solidFill>
                  <a:srgbClr val="002060"/>
                </a:solidFill>
                <a:latin typeface="Cambria" pitchFamily="18" charset="0"/>
                <a:ea typeface="Cambria" pitchFamily="18" charset="0"/>
                <a:cs typeface="Cambria" pitchFamily="18" charset="0"/>
              </a:rPr>
              <a:t>Problem Statement</a:t>
            </a:r>
          </a:p>
          <a:p>
            <a:pPr eaLnBrk="1" hangingPunct="1"/>
            <a:r>
              <a:rPr lang="en-US" altLang="en-US" sz="2000" b="1" dirty="0">
                <a:solidFill>
                  <a:srgbClr val="002060"/>
                </a:solidFill>
                <a:latin typeface="Cambria" pitchFamily="18" charset="0"/>
                <a:ea typeface="Cambria" pitchFamily="18" charset="0"/>
                <a:cs typeface="Cambria" pitchFamily="18" charset="0"/>
              </a:rPr>
              <a:t>Research Gap</a:t>
            </a:r>
          </a:p>
          <a:p>
            <a:pPr eaLnBrk="1" hangingPunct="1"/>
            <a:r>
              <a:rPr lang="en-US" altLang="en-US" sz="2000" b="1" dirty="0">
                <a:solidFill>
                  <a:srgbClr val="002060"/>
                </a:solidFill>
                <a:latin typeface="Cambria" pitchFamily="18" charset="0"/>
                <a:ea typeface="Cambria" pitchFamily="18" charset="0"/>
                <a:cs typeface="Cambria" pitchFamily="18" charset="0"/>
              </a:rPr>
              <a:t>Objectives</a:t>
            </a:r>
          </a:p>
          <a:p>
            <a:pPr eaLnBrk="1" hangingPunct="1"/>
            <a:r>
              <a:rPr lang="en-US" altLang="en-US" sz="2000" b="1" dirty="0">
                <a:solidFill>
                  <a:srgbClr val="002060"/>
                </a:solidFill>
                <a:latin typeface="Cambria" pitchFamily="18" charset="0"/>
                <a:ea typeface="Cambria" pitchFamily="18" charset="0"/>
                <a:cs typeface="Cambria" pitchFamily="18" charset="0"/>
              </a:rPr>
              <a:t>Proposed Methodology</a:t>
            </a:r>
          </a:p>
          <a:p>
            <a:pPr eaLnBrk="1" hangingPunct="1"/>
            <a:r>
              <a:rPr lang="en-US" altLang="en-US" sz="2000" b="1" dirty="0">
                <a:solidFill>
                  <a:srgbClr val="002060"/>
                </a:solidFill>
                <a:latin typeface="Cambria" pitchFamily="18" charset="0"/>
                <a:ea typeface="Cambria" pitchFamily="18" charset="0"/>
                <a:cs typeface="Cambria" pitchFamily="18" charset="0"/>
              </a:rPr>
              <a:t>Proposed Methodology Diagram</a:t>
            </a:r>
          </a:p>
          <a:p>
            <a:pPr eaLnBrk="1" hangingPunct="1"/>
            <a:r>
              <a:rPr lang="en-US" altLang="en-US" sz="2000" b="1" dirty="0">
                <a:solidFill>
                  <a:srgbClr val="002060"/>
                </a:solidFill>
                <a:latin typeface="Cambria" pitchFamily="18" charset="0"/>
                <a:ea typeface="Cambria" pitchFamily="18" charset="0"/>
                <a:cs typeface="Cambria" pitchFamily="18" charset="0"/>
              </a:rPr>
              <a:t>System Architecture</a:t>
            </a:r>
          </a:p>
          <a:p>
            <a:pPr eaLnBrk="1" hangingPunct="1"/>
            <a:r>
              <a:rPr lang="en-US" altLang="en-US" sz="2000" b="1" dirty="0">
                <a:solidFill>
                  <a:srgbClr val="002060"/>
                </a:solidFill>
                <a:latin typeface="Cambria" pitchFamily="18" charset="0"/>
                <a:ea typeface="Cambria" pitchFamily="18" charset="0"/>
                <a:cs typeface="Cambria" pitchFamily="18" charset="0"/>
              </a:rPr>
              <a:t>UML Diagrams</a:t>
            </a:r>
          </a:p>
          <a:p>
            <a:pPr eaLnBrk="1" hangingPunct="1"/>
            <a:r>
              <a:rPr lang="en-US" altLang="en-US" sz="2000" b="1" dirty="0">
                <a:solidFill>
                  <a:srgbClr val="002060"/>
                </a:solidFill>
                <a:latin typeface="Cambria" pitchFamily="18" charset="0"/>
                <a:ea typeface="Cambria" pitchFamily="18" charset="0"/>
                <a:cs typeface="Cambria" pitchFamily="18" charset="0"/>
              </a:rPr>
              <a:t>Functional and Non-Functional Requirements</a:t>
            </a:r>
          </a:p>
          <a:p>
            <a:pPr eaLnBrk="1" hangingPunct="1"/>
            <a:r>
              <a:rPr lang="en-US" altLang="en-US" sz="2000" b="1" dirty="0">
                <a:solidFill>
                  <a:srgbClr val="002060"/>
                </a:solidFill>
                <a:latin typeface="Cambria" pitchFamily="18" charset="0"/>
                <a:ea typeface="Cambria" pitchFamily="18" charset="0"/>
                <a:cs typeface="Cambria" pitchFamily="18" charset="0"/>
              </a:rPr>
              <a:t>Implementation Details</a:t>
            </a:r>
          </a:p>
          <a:p>
            <a:pPr eaLnBrk="1" hangingPunct="1"/>
            <a:r>
              <a:rPr lang="en-US" altLang="en-US" sz="2000" b="1" dirty="0">
                <a:solidFill>
                  <a:srgbClr val="002060"/>
                </a:solidFill>
                <a:latin typeface="Cambria" pitchFamily="18" charset="0"/>
                <a:ea typeface="Cambria" pitchFamily="18" charset="0"/>
                <a:cs typeface="Cambria" pitchFamily="18" charset="0"/>
              </a:rPr>
              <a:t>References</a:t>
            </a:r>
          </a:p>
        </p:txBody>
      </p:sp>
      <p:sp>
        <p:nvSpPr>
          <p:cNvPr id="7172"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7173"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6150" name="Slide Number Placeholder 5"/>
          <p:cNvSpPr>
            <a:spLocks noGrp="1"/>
          </p:cNvSpPr>
          <p:nvPr>
            <p:ph type="sldNum" sz="quarter" idx="12"/>
          </p:nvPr>
        </p:nvSpPr>
        <p:spPr bwMode="auto">
          <a:noFill/>
          <a:ln>
            <a:miter lim="800000"/>
            <a:headEnd/>
            <a:tailEnd/>
          </a:ln>
        </p:spPr>
        <p:txBody>
          <a:bodyPr/>
          <a:lstStyle/>
          <a:p>
            <a:fld id="{DA074DF7-47DB-46BB-AFC0-963A22437EAC}" type="slidenum">
              <a:rPr lang="en-US" altLang="en-US"/>
              <a:pPr/>
              <a:t>2</a:t>
            </a:fld>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Abstract </a:t>
            </a:r>
          </a:p>
        </p:txBody>
      </p:sp>
      <p:sp>
        <p:nvSpPr>
          <p:cNvPr id="29699"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29700"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2293" name="Slide Number Placeholder 5"/>
          <p:cNvSpPr>
            <a:spLocks noGrp="1"/>
          </p:cNvSpPr>
          <p:nvPr>
            <p:ph type="sldNum" sz="quarter" idx="12"/>
          </p:nvPr>
        </p:nvSpPr>
        <p:spPr bwMode="auto">
          <a:noFill/>
          <a:ln>
            <a:miter lim="800000"/>
            <a:headEnd/>
            <a:tailEnd/>
          </a:ln>
        </p:spPr>
        <p:txBody>
          <a:bodyPr/>
          <a:lstStyle/>
          <a:p>
            <a:fld id="{3450FBEC-9B95-433E-B84B-FF516CE3D66A}" type="slidenum">
              <a:rPr lang="en-US" altLang="en-US"/>
              <a:pPr/>
              <a:t>3</a:t>
            </a:fld>
            <a:endParaRPr lang="en-US" altLang="en-US"/>
          </a:p>
        </p:txBody>
      </p:sp>
      <p:sp>
        <p:nvSpPr>
          <p:cNvPr id="3" name="TextBox 2">
            <a:extLst>
              <a:ext uri="{FF2B5EF4-FFF2-40B4-BE49-F238E27FC236}">
                <a16:creationId xmlns:a16="http://schemas.microsoft.com/office/drawing/2014/main" id="{F8312F4F-3D85-61D5-8602-7C89F4E045A1}"/>
              </a:ext>
            </a:extLst>
          </p:cNvPr>
          <p:cNvSpPr txBox="1"/>
          <p:nvPr/>
        </p:nvSpPr>
        <p:spPr>
          <a:xfrm>
            <a:off x="414787" y="1243299"/>
            <a:ext cx="10749232" cy="2862322"/>
          </a:xfrm>
          <a:prstGeom prst="rect">
            <a:avLst/>
          </a:prstGeom>
          <a:noFill/>
        </p:spPr>
        <p:txBody>
          <a:bodyPr wrap="square">
            <a:spAutoFit/>
          </a:bodyPr>
          <a:lstStyle/>
          <a:p>
            <a:r>
              <a:rPr lang="en-IN" sz="1800" b="0" i="0" dirty="0">
                <a:solidFill>
                  <a:schemeClr val="tx1"/>
                </a:solidFill>
                <a:effectLst/>
                <a:latin typeface="Times New Roman" panose="02020603050405020304" pitchFamily="18" charset="0"/>
                <a:cs typeface="Times New Roman" panose="02020603050405020304" pitchFamily="18" charset="0"/>
              </a:rPr>
              <a:t>Urban flooding in rapidly growing cities like Hyderabad causes severe damage to infrastructure and public safety due to overwhelmed drainage systems during monsoon events. This project proposes </a:t>
            </a:r>
            <a:r>
              <a:rPr lang="en-IN" sz="1800" b="1" i="0" dirty="0" err="1">
                <a:solidFill>
                  <a:schemeClr val="tx1"/>
                </a:solidFill>
                <a:effectLst/>
                <a:latin typeface="Times New Roman" panose="02020603050405020304" pitchFamily="18" charset="0"/>
                <a:cs typeface="Times New Roman" panose="02020603050405020304" pitchFamily="18" charset="0"/>
              </a:rPr>
              <a:t>Phy</a:t>
            </a:r>
            <a:r>
              <a:rPr lang="en-IN" sz="1800" b="1" i="0" dirty="0">
                <a:solidFill>
                  <a:schemeClr val="tx1"/>
                </a:solidFill>
                <a:effectLst/>
                <a:latin typeface="Times New Roman" panose="02020603050405020304" pitchFamily="18" charset="0"/>
                <a:cs typeface="Times New Roman" panose="02020603050405020304" pitchFamily="18" charset="0"/>
              </a:rPr>
              <a:t>-DSTGNN (Physics-Guided Dual Spatio-Temporal Graph Neural Network)</a:t>
            </a:r>
            <a:r>
              <a:rPr lang="en-IN" sz="1800" b="0" i="0" dirty="0">
                <a:solidFill>
                  <a:schemeClr val="tx1"/>
                </a:solidFill>
                <a:effectLst/>
                <a:latin typeface="Times New Roman" panose="02020603050405020304" pitchFamily="18" charset="0"/>
                <a:cs typeface="Times New Roman" panose="02020603050405020304" pitchFamily="18" charset="0"/>
              </a:rPr>
              <a:t>, a deep learning framework for real-time flood inundation forecasting over the Begumpet–Kukatpally drainage corridor, </a:t>
            </a:r>
            <a:r>
              <a:rPr lang="en-IN" sz="1800" b="0" i="0" dirty="0" err="1">
                <a:solidFill>
                  <a:schemeClr val="tx1"/>
                </a:solidFill>
                <a:effectLst/>
                <a:latin typeface="Times New Roman" panose="02020603050405020304" pitchFamily="18" charset="0"/>
                <a:cs typeface="Times New Roman" panose="02020603050405020304" pitchFamily="18" charset="0"/>
              </a:rPr>
              <a:t>modeled</a:t>
            </a:r>
            <a:r>
              <a:rPr lang="en-IN" sz="1800" b="0" i="0" dirty="0">
                <a:solidFill>
                  <a:schemeClr val="tx1"/>
                </a:solidFill>
                <a:effectLst/>
                <a:latin typeface="Times New Roman" panose="02020603050405020304" pitchFamily="18" charset="0"/>
                <a:cs typeface="Times New Roman" panose="02020603050405020304" pitchFamily="18" charset="0"/>
              </a:rPr>
              <a:t> as a graph of 72 manholes and 97 conduits. The system combines Graph Attention Networks (GAT) for spatial dependency </a:t>
            </a:r>
            <a:r>
              <a:rPr lang="en-IN" sz="1800" b="0" i="0" dirty="0" err="1">
                <a:solidFill>
                  <a:schemeClr val="tx1"/>
                </a:solidFill>
                <a:effectLst/>
                <a:latin typeface="Times New Roman" panose="02020603050405020304" pitchFamily="18" charset="0"/>
                <a:cs typeface="Times New Roman" panose="02020603050405020304" pitchFamily="18" charset="0"/>
              </a:rPr>
              <a:t>modeling</a:t>
            </a:r>
            <a:r>
              <a:rPr lang="en-IN" sz="1800" b="0" i="0" dirty="0">
                <a:solidFill>
                  <a:schemeClr val="tx1"/>
                </a:solidFill>
                <a:effectLst/>
                <a:latin typeface="Times New Roman" panose="02020603050405020304" pitchFamily="18" charset="0"/>
                <a:cs typeface="Times New Roman" panose="02020603050405020304" pitchFamily="18" charset="0"/>
              </a:rPr>
              <a:t>, Temporal Convolutional Networks (TCN) for rainfall pattern learning, and physics-based constraints from Manning's equation embedded in the loss function to ensure hydraulically consistent predictions. Real-time rainfall data is ingested to forecast manhole surcharge levels and trigger automated alerts for GHMC operators. Explainability is achieved using SHAP and Grad-CAM techniques, and evaluation results show superior performance over data-driven baselines in MAE, RMSE, and Nash-Sutcliffe Efficiency (NSE).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2029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Literature Review</a:t>
            </a:r>
          </a:p>
        </p:txBody>
      </p:sp>
      <p:sp>
        <p:nvSpPr>
          <p:cNvPr id="15363"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p:cNvSpPr>
            <a:spLocks noGrp="1"/>
          </p:cNvSpPr>
          <p:nvPr>
            <p:ph type="sldNum" sz="quarter" idx="12"/>
          </p:nvPr>
        </p:nvSpPr>
        <p:spPr bwMode="auto">
          <a:noFill/>
          <a:ln>
            <a:miter lim="800000"/>
            <a:headEnd/>
            <a:tailEnd/>
          </a:ln>
        </p:spPr>
        <p:txBody>
          <a:bodyPr/>
          <a:lstStyle/>
          <a:p>
            <a:fld id="{9BA95D20-3DD7-486C-BDED-39A628F8F61B}" type="slidenum">
              <a:rPr lang="en-US" altLang="en-US"/>
              <a:pPr/>
              <a:t>4</a:t>
            </a:fld>
            <a:endParaRPr lang="en-US" altLang="en-US"/>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63740B7C-02D4-4EB2-02DC-8A8847926291}"/>
                  </a:ext>
                </a:extLst>
              </p:cNvPr>
              <p:cNvGraphicFramePr>
                <a:graphicFrameLocks noGrp="1"/>
              </p:cNvGraphicFramePr>
              <p:nvPr/>
            </p:nvGraphicFramePr>
            <p:xfrm>
              <a:off x="482598" y="1046480"/>
              <a:ext cx="11292840" cy="4912360"/>
            </p:xfrm>
            <a:graphic>
              <a:graphicData uri="http://schemas.openxmlformats.org/drawingml/2006/table">
                <a:tbl>
                  <a:tblPr firstRow="1" bandRow="1">
                    <a:tableStyleId>{5C22544A-7EE6-4342-B048-85BDC9FD1C3A}</a:tableStyleId>
                  </a:tblPr>
                  <a:tblGrid>
                    <a:gridCol w="1882140">
                      <a:extLst>
                        <a:ext uri="{9D8B030D-6E8A-4147-A177-3AD203B41FA5}">
                          <a16:colId xmlns:a16="http://schemas.microsoft.com/office/drawing/2014/main" val="2863590796"/>
                        </a:ext>
                      </a:extLst>
                    </a:gridCol>
                    <a:gridCol w="1882140">
                      <a:extLst>
                        <a:ext uri="{9D8B030D-6E8A-4147-A177-3AD203B41FA5}">
                          <a16:colId xmlns:a16="http://schemas.microsoft.com/office/drawing/2014/main" val="3711355278"/>
                        </a:ext>
                      </a:extLst>
                    </a:gridCol>
                    <a:gridCol w="1882140">
                      <a:extLst>
                        <a:ext uri="{9D8B030D-6E8A-4147-A177-3AD203B41FA5}">
                          <a16:colId xmlns:a16="http://schemas.microsoft.com/office/drawing/2014/main" val="3392496085"/>
                        </a:ext>
                      </a:extLst>
                    </a:gridCol>
                    <a:gridCol w="1882140">
                      <a:extLst>
                        <a:ext uri="{9D8B030D-6E8A-4147-A177-3AD203B41FA5}">
                          <a16:colId xmlns:a16="http://schemas.microsoft.com/office/drawing/2014/main" val="3641150028"/>
                        </a:ext>
                      </a:extLst>
                    </a:gridCol>
                    <a:gridCol w="1882140">
                      <a:extLst>
                        <a:ext uri="{9D8B030D-6E8A-4147-A177-3AD203B41FA5}">
                          <a16:colId xmlns:a16="http://schemas.microsoft.com/office/drawing/2014/main" val="2657847349"/>
                        </a:ext>
                      </a:extLst>
                    </a:gridCol>
                    <a:gridCol w="1882140">
                      <a:extLst>
                        <a:ext uri="{9D8B030D-6E8A-4147-A177-3AD203B41FA5}">
                          <a16:colId xmlns:a16="http://schemas.microsoft.com/office/drawing/2014/main" val="2384784100"/>
                        </a:ext>
                      </a:extLst>
                    </a:gridCol>
                  </a:tblGrid>
                  <a:tr h="751840">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206501">
                    <a:tc>
                      <a:txBody>
                        <a:bodyPr/>
                        <a:lstStyle/>
                        <a:p>
                          <a:pPr algn="l"/>
                          <a:r>
                            <a:rPr lang="en-IN" sz="1500" b="0" i="0" kern="1200" dirty="0">
                              <a:solidFill>
                                <a:schemeClr val="tx1"/>
                              </a:solidFill>
                              <a:effectLst/>
                              <a:latin typeface="Times New Roman" panose="02020603050405020304" pitchFamily="18" charset="0"/>
                              <a:ea typeface="+mn-ea"/>
                              <a:cs typeface="Times New Roman" panose="02020603050405020304" pitchFamily="18" charset="0"/>
                            </a:rPr>
                            <a:t>Physics-Informed CNN-LSTM for Street-Scale Urban Flood Prediction (2026)</a:t>
                          </a:r>
                          <a:endParaRPr lang="en-IN" sz="1500"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indent="0" algn="l">
                            <a:buNone/>
                          </a:pPr>
                          <a:r>
                            <a:rPr lang="en-IN" sz="1500" b="0" i="0" dirty="0">
                              <a:solidFill>
                                <a:schemeClr val="tx1"/>
                              </a:solidFill>
                              <a:effectLst/>
                              <a:latin typeface="system-ui"/>
                            </a:rPr>
                            <a:t>Street-level urban flood depth nowcasting and physical plausibility.</a:t>
                          </a:r>
                        </a:p>
                      </a:txBody>
                      <a:tcPr anchor="ctr"/>
                    </a:tc>
                    <a:tc>
                      <a:txBody>
                        <a:bodyPr/>
                        <a:lstStyle/>
                        <a:p>
                          <a:pPr marL="0" marR="0" indent="0" algn="l">
                            <a:buNone/>
                          </a:pPr>
                          <a:r>
                            <a:rPr lang="en-IN" sz="1500" b="0" i="0" dirty="0">
                              <a:solidFill>
                                <a:schemeClr val="tx1"/>
                              </a:solidFill>
                              <a:effectLst/>
                              <a:latin typeface="system-ui"/>
                            </a:rPr>
                            <a:t>Physics-Informed Neural Network (PINN) combining 2D CNN with LSTM under continuity loss.</a:t>
                          </a:r>
                        </a:p>
                      </a:txBody>
                      <a:tcPr anchor="ctr"/>
                    </a:tc>
                    <a:tc>
                      <a:txBody>
                        <a:bodyPr/>
                        <a:lstStyle/>
                        <a:p>
                          <a:pPr marL="0" marR="0" indent="0" algn="l">
                            <a:buNone/>
                          </a:pPr>
                          <a:r>
                            <a:rPr lang="en-IN" sz="1500" b="0" i="0" dirty="0">
                              <a:solidFill>
                                <a:schemeClr val="tx1"/>
                              </a:solidFill>
                              <a:effectLst/>
                              <a:latin typeface="system-ui"/>
                            </a:rPr>
                            <a:t>Enforces continuity equations into recurrent loss to preserve local mass balance on roads.</a:t>
                          </a:r>
                        </a:p>
                      </a:txBody>
                      <a:tcPr anchor="ctr"/>
                    </a:tc>
                    <a:tc>
                      <a:txBody>
                        <a:bodyPr/>
                        <a:lstStyle/>
                        <a:p>
                          <a:pPr marL="0" marR="0" indent="0" algn="l">
                            <a:buNone/>
                          </a:pPr>
                          <a:r>
                            <a:rPr lang="en-IN" sz="1500" b="0" i="0" dirty="0">
                              <a:solidFill>
                                <a:schemeClr val="tx1"/>
                              </a:solidFill>
                              <a:effectLst/>
                              <a:latin typeface="system-ui"/>
                            </a:rPr>
                            <a:t>Overcomes unphysical negative depths and artificial mass creation in pure data-driven LSTMs.</a:t>
                          </a:r>
                        </a:p>
                      </a:txBody>
                      <a:tcPr anchor="ctr"/>
                    </a:tc>
                    <a:tc>
                      <a:txBody>
                        <a:bodyPr/>
                        <a:lstStyle/>
                        <a:p>
                          <a:pPr marL="0" marR="0" indent="0" algn="l">
                            <a:buNone/>
                          </a:pPr>
                          <a:r>
                            <a:rPr lang="en-IN" sz="1500" b="0" i="0" dirty="0">
                              <a:solidFill>
                                <a:schemeClr val="tx1"/>
                              </a:solidFill>
                              <a:effectLst/>
                              <a:latin typeface="system-ui"/>
                            </a:rPr>
                            <a:t>Evaluated only on 2D surface grid cells; ignores underground pipe conduits and manhole surcharging.</a:t>
                          </a:r>
                        </a:p>
                      </a:txBody>
                      <a:tcPr anchor="ctr"/>
                    </a:tc>
                    <a:extLst>
                      <a:ext uri="{0D108BD9-81ED-4DB2-BD59-A6C34878D82A}">
                        <a16:rowId xmlns:a16="http://schemas.microsoft.com/office/drawing/2014/main" val="1052962531"/>
                      </a:ext>
                    </a:extLst>
                  </a:tr>
                  <a:tr h="1206501">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Toward an Operational GNN-Based Multimesh Surrogate for Fast Flood Forecasting (2026)</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Real-time hydrodynamic surrogate modeling over multi-resolution meshes.</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Multimesh Graph Neural Network (GNN) surrogate emulating 2D shallow water solvers.</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Accelerates numerical simulation by </a:t>
                          </a:r>
                          <a14:m>
                            <m:oMath xmlns:m="http://schemas.openxmlformats.org/officeDocument/2006/math">
                              <m:r>
                                <a:rPr lang="en-IN" sz="1500" b="0" i="1" smtClean="0">
                                  <a:solidFill>
                                    <a:schemeClr val="tx1"/>
                                  </a:solidFill>
                                  <a:latin typeface="Cambria Math" panose="02040503050406030204" pitchFamily="18" charset="0"/>
                                </a:rPr>
                                <m:t>100</m:t>
                              </m:r>
                              <m:r>
                                <a:rPr lang="en-IN" sz="1500" b="0" i="0" smtClean="0">
                                  <a:solidFill>
                                    <a:schemeClr val="tx1"/>
                                  </a:solidFill>
                                  <a:latin typeface="Cambria Math" panose="02040503050406030204" pitchFamily="18" charset="0"/>
                                </a:rPr>
                                <m:t>×</m:t>
                              </m:r>
                            </m:oMath>
                          </a14:m>
                          <a:r>
                            <a:rPr lang="en-IN" sz="1500" b="0" i="0">
                              <a:solidFill>
                                <a:schemeClr val="tx1"/>
                              </a:solidFill>
                              <a:effectLst/>
                              <a:latin typeface="Times New Roman" panose="02020603050405020304" pitchFamily="18" charset="0"/>
                              <a:cs typeface="Times New Roman" panose="02020603050405020304" pitchFamily="18" charset="0"/>
                            </a:rPr>
                            <a:t> while maintaining spatial multi-scale mesh resolution.</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Solves excessive computational latency in classical 2D hydrodynamic solvers for real-time warning.</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Restricted to surface riverine meshes; does not model complex urban underground pipe gravity flow.</a:t>
                          </a:r>
                        </a:p>
                      </a:txBody>
                      <a:tcPr anchor="ctr"/>
                    </a:tc>
                    <a:extLst>
                      <a:ext uri="{0D108BD9-81ED-4DB2-BD59-A6C34878D82A}">
                        <a16:rowId xmlns:a16="http://schemas.microsoft.com/office/drawing/2014/main" val="2775585687"/>
                      </a:ext>
                    </a:extLst>
                  </a:tr>
                  <a:tr h="1206501">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Multi-Source Dynamic Graph Learning for Compound-Flood Forecasting (2026)</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Multi-hazard compound flooding across managed urban coastal drainage.</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Dynamic Graph Attention Network (Dynamic GAT) with multi-modal sensor fusion.</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Learns evolving temporal graph edges as gate states and tide levels dynamically change.</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Captures non-stationary interactions between tidal backwater surge and urban pipe runoff.</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High training complexity; lacks explicit hydraulic friction constraints (Manning's loss) on pipe links.</a:t>
                          </a:r>
                        </a:p>
                      </a:txBody>
                      <a:tcPr anchor="ctr"/>
                    </a:tc>
                    <a:extLst>
                      <a:ext uri="{0D108BD9-81ED-4DB2-BD59-A6C34878D82A}">
                        <a16:rowId xmlns:a16="http://schemas.microsoft.com/office/drawing/2014/main" val="4071540799"/>
                      </a:ext>
                    </a:extLst>
                  </a:tr>
                </a:tbl>
              </a:graphicData>
            </a:graphic>
          </p:graphicFrame>
        </mc:Choice>
        <mc:Fallback xmlns="">
          <p:graphicFrame>
            <p:nvGraphicFramePr>
              <p:cNvPr id="3" name="Table 2">
                <a:extLst>
                  <a:ext uri="{FF2B5EF4-FFF2-40B4-BE49-F238E27FC236}">
                    <a16:creationId xmlns:a16="http://schemas.microsoft.com/office/drawing/2014/main" id="{63740B7C-02D4-4EB2-02DC-8A8847926291}"/>
                  </a:ext>
                </a:extLst>
              </p:cNvPr>
              <p:cNvGraphicFramePr>
                <a:graphicFrameLocks noGrp="1"/>
              </p:cNvGraphicFramePr>
              <p:nvPr>
                <p:extLst>
                  <p:ext uri="{D42A27DB-BD31-4B8C-83A1-F6EECF244321}">
                    <p14:modId xmlns:p14="http://schemas.microsoft.com/office/powerpoint/2010/main" val="3232328642"/>
                  </p:ext>
                </p:extLst>
              </p:nvPr>
            </p:nvGraphicFramePr>
            <p:xfrm>
              <a:off x="482598" y="1046480"/>
              <a:ext cx="11292840" cy="4912360"/>
            </p:xfrm>
            <a:graphic>
              <a:graphicData uri="http://schemas.openxmlformats.org/drawingml/2006/table">
                <a:tbl>
                  <a:tblPr firstRow="1" bandRow="1">
                    <a:tableStyleId>{5C22544A-7EE6-4342-B048-85BDC9FD1C3A}</a:tableStyleId>
                  </a:tblPr>
                  <a:tblGrid>
                    <a:gridCol w="1882140">
                      <a:extLst>
                        <a:ext uri="{9D8B030D-6E8A-4147-A177-3AD203B41FA5}">
                          <a16:colId xmlns:a16="http://schemas.microsoft.com/office/drawing/2014/main" val="2863590796"/>
                        </a:ext>
                      </a:extLst>
                    </a:gridCol>
                    <a:gridCol w="1882140">
                      <a:extLst>
                        <a:ext uri="{9D8B030D-6E8A-4147-A177-3AD203B41FA5}">
                          <a16:colId xmlns:a16="http://schemas.microsoft.com/office/drawing/2014/main" val="3711355278"/>
                        </a:ext>
                      </a:extLst>
                    </a:gridCol>
                    <a:gridCol w="1882140">
                      <a:extLst>
                        <a:ext uri="{9D8B030D-6E8A-4147-A177-3AD203B41FA5}">
                          <a16:colId xmlns:a16="http://schemas.microsoft.com/office/drawing/2014/main" val="3392496085"/>
                        </a:ext>
                      </a:extLst>
                    </a:gridCol>
                    <a:gridCol w="1882140">
                      <a:extLst>
                        <a:ext uri="{9D8B030D-6E8A-4147-A177-3AD203B41FA5}">
                          <a16:colId xmlns:a16="http://schemas.microsoft.com/office/drawing/2014/main" val="3641150028"/>
                        </a:ext>
                      </a:extLst>
                    </a:gridCol>
                    <a:gridCol w="1882140">
                      <a:extLst>
                        <a:ext uri="{9D8B030D-6E8A-4147-A177-3AD203B41FA5}">
                          <a16:colId xmlns:a16="http://schemas.microsoft.com/office/drawing/2014/main" val="2657847349"/>
                        </a:ext>
                      </a:extLst>
                    </a:gridCol>
                    <a:gridCol w="1882140">
                      <a:extLst>
                        <a:ext uri="{9D8B030D-6E8A-4147-A177-3AD203B41FA5}">
                          <a16:colId xmlns:a16="http://schemas.microsoft.com/office/drawing/2014/main" val="2384784100"/>
                        </a:ext>
                      </a:extLst>
                    </a:gridCol>
                  </a:tblGrid>
                  <a:tr h="751840">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234440">
                    <a:tc>
                      <a:txBody>
                        <a:bodyPr/>
                        <a:lstStyle/>
                        <a:p>
                          <a:pPr algn="l"/>
                          <a:r>
                            <a:rPr lang="en-IN" sz="1500" b="0" i="0" kern="1200" dirty="0">
                              <a:solidFill>
                                <a:schemeClr val="tx1"/>
                              </a:solidFill>
                              <a:effectLst/>
                              <a:latin typeface="Times New Roman" panose="02020603050405020304" pitchFamily="18" charset="0"/>
                              <a:ea typeface="+mn-ea"/>
                              <a:cs typeface="Times New Roman" panose="02020603050405020304" pitchFamily="18" charset="0"/>
                            </a:rPr>
                            <a:t>Physics-Informed CNN-LSTM for Street-Scale Urban Flood Prediction (2026)</a:t>
                          </a:r>
                          <a:endParaRPr lang="en-IN" sz="1500" b="0" dirty="0">
                            <a:solidFill>
                              <a:schemeClr val="tx1"/>
                            </a:solidFill>
                            <a:latin typeface="Times New Roman" panose="02020603050405020304" pitchFamily="18" charset="0"/>
                            <a:cs typeface="Times New Roman" panose="02020603050405020304" pitchFamily="18" charset="0"/>
                          </a:endParaRPr>
                        </a:p>
                      </a:txBody>
                      <a:tcPr/>
                    </a:tc>
                    <a:tc>
                      <a:txBody>
                        <a:bodyPr/>
                        <a:lstStyle/>
                        <a:p>
                          <a:pPr marL="0" marR="0" indent="0" algn="l">
                            <a:buNone/>
                          </a:pPr>
                          <a:r>
                            <a:rPr lang="en-IN" sz="1500" b="0" i="0" dirty="0">
                              <a:solidFill>
                                <a:schemeClr val="tx1"/>
                              </a:solidFill>
                              <a:effectLst/>
                              <a:latin typeface="system-ui"/>
                            </a:rPr>
                            <a:t>Street-level urban flood depth nowcasting and physical plausibility.</a:t>
                          </a:r>
                        </a:p>
                      </a:txBody>
                      <a:tcPr anchor="ctr"/>
                    </a:tc>
                    <a:tc>
                      <a:txBody>
                        <a:bodyPr/>
                        <a:lstStyle/>
                        <a:p>
                          <a:pPr marL="0" marR="0" indent="0" algn="l">
                            <a:buNone/>
                          </a:pPr>
                          <a:r>
                            <a:rPr lang="en-IN" sz="1500" b="0" i="0" dirty="0">
                              <a:solidFill>
                                <a:schemeClr val="tx1"/>
                              </a:solidFill>
                              <a:effectLst/>
                              <a:latin typeface="system-ui"/>
                            </a:rPr>
                            <a:t>Physics-Informed Neural Network (PINN) combining 2D CNN with LSTM under continuity loss.</a:t>
                          </a:r>
                        </a:p>
                      </a:txBody>
                      <a:tcPr anchor="ctr"/>
                    </a:tc>
                    <a:tc>
                      <a:txBody>
                        <a:bodyPr/>
                        <a:lstStyle/>
                        <a:p>
                          <a:pPr marL="0" marR="0" indent="0" algn="l">
                            <a:buNone/>
                          </a:pPr>
                          <a:r>
                            <a:rPr lang="en-IN" sz="1500" b="0" i="0" dirty="0">
                              <a:solidFill>
                                <a:schemeClr val="tx1"/>
                              </a:solidFill>
                              <a:effectLst/>
                              <a:latin typeface="system-ui"/>
                            </a:rPr>
                            <a:t>Enforces continuity equations into recurrent loss to preserve local mass balance on roads.</a:t>
                          </a:r>
                        </a:p>
                      </a:txBody>
                      <a:tcPr anchor="ctr"/>
                    </a:tc>
                    <a:tc>
                      <a:txBody>
                        <a:bodyPr/>
                        <a:lstStyle/>
                        <a:p>
                          <a:pPr marL="0" marR="0" indent="0" algn="l">
                            <a:buNone/>
                          </a:pPr>
                          <a:r>
                            <a:rPr lang="en-IN" sz="1500" b="0" i="0" dirty="0">
                              <a:solidFill>
                                <a:schemeClr val="tx1"/>
                              </a:solidFill>
                              <a:effectLst/>
                              <a:latin typeface="system-ui"/>
                            </a:rPr>
                            <a:t>Overcomes unphysical negative depths and artificial mass creation in pure data-driven LSTMs.</a:t>
                          </a:r>
                        </a:p>
                      </a:txBody>
                      <a:tcPr anchor="ctr"/>
                    </a:tc>
                    <a:tc>
                      <a:txBody>
                        <a:bodyPr/>
                        <a:lstStyle/>
                        <a:p>
                          <a:pPr marL="0" marR="0" indent="0" algn="l">
                            <a:buNone/>
                          </a:pPr>
                          <a:r>
                            <a:rPr lang="en-IN" sz="1500" b="0" i="0" dirty="0">
                              <a:solidFill>
                                <a:schemeClr val="tx1"/>
                              </a:solidFill>
                              <a:effectLst/>
                              <a:latin typeface="system-ui"/>
                            </a:rPr>
                            <a:t>Evaluated only on 2D surface grid cells; ignores underground pipe conduits and manhole surcharging.</a:t>
                          </a:r>
                        </a:p>
                      </a:txBody>
                      <a:tcPr anchor="ctr"/>
                    </a:tc>
                    <a:extLst>
                      <a:ext uri="{0D108BD9-81ED-4DB2-BD59-A6C34878D82A}">
                        <a16:rowId xmlns:a16="http://schemas.microsoft.com/office/drawing/2014/main" val="1052962531"/>
                      </a:ext>
                    </a:extLst>
                  </a:tr>
                  <a:tr h="1463040">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Toward an Operational GNN-Based Multimesh Surrogate for Fast Flood Forecasting (2026)</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Real-time hydrodynamic surrogate modeling over multi-resolution meshes.</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Multimesh Graph Neural Network (GNN) surrogate emulating 2D shallow water solvers.</a:t>
                          </a:r>
                        </a:p>
                      </a:txBody>
                      <a:tcPr anchor="ctr"/>
                    </a:tc>
                    <a:tc>
                      <a:txBody>
                        <a:bodyPr/>
                        <a:lstStyle/>
                        <a:p>
                          <a:endParaRPr lang="en-US"/>
                        </a:p>
                      </a:txBody>
                      <a:tcPr anchor="ctr">
                        <a:blipFill>
                          <a:blip r:embed="rId2"/>
                          <a:stretch>
                            <a:fillRect l="-301299" t="-137344" r="-201948" b="-104149"/>
                          </a:stretch>
                        </a:blipFill>
                      </a:tcP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Solves excessive computational latency in classical 2D hydrodynamic solvers for real-time warning.</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Restricted to surface riverine meshes; does not model complex urban underground pipe gravity flow.</a:t>
                          </a:r>
                        </a:p>
                      </a:txBody>
                      <a:tcPr anchor="ctr"/>
                    </a:tc>
                    <a:extLst>
                      <a:ext uri="{0D108BD9-81ED-4DB2-BD59-A6C34878D82A}">
                        <a16:rowId xmlns:a16="http://schemas.microsoft.com/office/drawing/2014/main" val="2775585687"/>
                      </a:ext>
                    </a:extLst>
                  </a:tr>
                  <a:tr h="1463040">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Multi-Source Dynamic Graph Learning for Compound-Flood Forecasting (2026)</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Multi-hazard compound flooding across managed urban coastal drainage.</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Dynamic Graph Attention Network (Dynamic GAT) with multi-modal sensor fusion.</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Learns evolving temporal graph edges as gate states and tide levels dynamically change.</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Captures non-stationary interactions between tidal backwater surge and urban pipe runoff.</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High training complexity; lacks explicit hydraulic friction constraints (Manning's loss) on pipe links.</a:t>
                          </a:r>
                        </a:p>
                      </a:txBody>
                      <a:tcPr anchor="ctr"/>
                    </a:tc>
                    <a:extLst>
                      <a:ext uri="{0D108BD9-81ED-4DB2-BD59-A6C34878D82A}">
                        <a16:rowId xmlns:a16="http://schemas.microsoft.com/office/drawing/2014/main" val="4071540799"/>
                      </a:ext>
                    </a:extLst>
                  </a:tr>
                </a:tbl>
              </a:graphicData>
            </a:graphic>
          </p:graphicFrame>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CCE2C-6C6D-06C8-A261-16B93B306C93}"/>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F7D897D0-0528-3005-A82B-21CD3A8509CF}"/>
              </a:ext>
            </a:extLst>
          </p:cNvPr>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Literature Review</a:t>
            </a:r>
          </a:p>
        </p:txBody>
      </p:sp>
      <p:sp>
        <p:nvSpPr>
          <p:cNvPr id="15363" name="Date Placeholder 3">
            <a:extLst>
              <a:ext uri="{FF2B5EF4-FFF2-40B4-BE49-F238E27FC236}">
                <a16:creationId xmlns:a16="http://schemas.microsoft.com/office/drawing/2014/main" id="{82B98118-37C3-9413-EDDA-0892CD9130B1}"/>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a:extLst>
              <a:ext uri="{FF2B5EF4-FFF2-40B4-BE49-F238E27FC236}">
                <a16:creationId xmlns:a16="http://schemas.microsoft.com/office/drawing/2014/main" id="{5308E348-8FE2-0442-413B-FC288E4875A9}"/>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a:extLst>
              <a:ext uri="{FF2B5EF4-FFF2-40B4-BE49-F238E27FC236}">
                <a16:creationId xmlns:a16="http://schemas.microsoft.com/office/drawing/2014/main" id="{FDDA657A-5375-3E64-6215-DCA45F757488}"/>
              </a:ext>
            </a:extLst>
          </p:cNvPr>
          <p:cNvSpPr>
            <a:spLocks noGrp="1"/>
          </p:cNvSpPr>
          <p:nvPr>
            <p:ph type="sldNum" sz="quarter" idx="12"/>
          </p:nvPr>
        </p:nvSpPr>
        <p:spPr bwMode="auto">
          <a:noFill/>
          <a:ln>
            <a:miter lim="800000"/>
            <a:headEnd/>
            <a:tailEnd/>
          </a:ln>
        </p:spPr>
        <p:txBody>
          <a:bodyPr/>
          <a:lstStyle/>
          <a:p>
            <a:fld id="{9BA95D20-3DD7-486C-BDED-39A628F8F61B}" type="slidenum">
              <a:rPr lang="en-US" altLang="en-US"/>
              <a:pPr/>
              <a:t>5</a:t>
            </a:fld>
            <a:endParaRPr lang="en-US" altLang="en-US"/>
          </a:p>
        </p:txBody>
      </p:sp>
      <p:graphicFrame>
        <p:nvGraphicFramePr>
          <p:cNvPr id="3" name="Table 2">
            <a:extLst>
              <a:ext uri="{FF2B5EF4-FFF2-40B4-BE49-F238E27FC236}">
                <a16:creationId xmlns:a16="http://schemas.microsoft.com/office/drawing/2014/main" id="{76C99061-5BBD-E903-A25F-EAC83EF92CE4}"/>
              </a:ext>
            </a:extLst>
          </p:cNvPr>
          <p:cNvGraphicFramePr>
            <a:graphicFrameLocks noGrp="1"/>
          </p:cNvGraphicFramePr>
          <p:nvPr/>
        </p:nvGraphicFramePr>
        <p:xfrm>
          <a:off x="241778" y="940752"/>
          <a:ext cx="11818140" cy="5410957"/>
        </p:xfrm>
        <a:graphic>
          <a:graphicData uri="http://schemas.openxmlformats.org/drawingml/2006/table">
            <a:tbl>
              <a:tblPr firstRow="1" bandRow="1">
                <a:tableStyleId>{5C22544A-7EE6-4342-B048-85BDC9FD1C3A}</a:tableStyleId>
              </a:tblPr>
              <a:tblGrid>
                <a:gridCol w="1969690">
                  <a:extLst>
                    <a:ext uri="{9D8B030D-6E8A-4147-A177-3AD203B41FA5}">
                      <a16:colId xmlns:a16="http://schemas.microsoft.com/office/drawing/2014/main" val="2863590796"/>
                    </a:ext>
                  </a:extLst>
                </a:gridCol>
                <a:gridCol w="1969690">
                  <a:extLst>
                    <a:ext uri="{9D8B030D-6E8A-4147-A177-3AD203B41FA5}">
                      <a16:colId xmlns:a16="http://schemas.microsoft.com/office/drawing/2014/main" val="3711355278"/>
                    </a:ext>
                  </a:extLst>
                </a:gridCol>
                <a:gridCol w="1969690">
                  <a:extLst>
                    <a:ext uri="{9D8B030D-6E8A-4147-A177-3AD203B41FA5}">
                      <a16:colId xmlns:a16="http://schemas.microsoft.com/office/drawing/2014/main" val="3392496085"/>
                    </a:ext>
                  </a:extLst>
                </a:gridCol>
                <a:gridCol w="1969690">
                  <a:extLst>
                    <a:ext uri="{9D8B030D-6E8A-4147-A177-3AD203B41FA5}">
                      <a16:colId xmlns:a16="http://schemas.microsoft.com/office/drawing/2014/main" val="3641150028"/>
                    </a:ext>
                  </a:extLst>
                </a:gridCol>
                <a:gridCol w="1969690">
                  <a:extLst>
                    <a:ext uri="{9D8B030D-6E8A-4147-A177-3AD203B41FA5}">
                      <a16:colId xmlns:a16="http://schemas.microsoft.com/office/drawing/2014/main" val="2657847349"/>
                    </a:ext>
                  </a:extLst>
                </a:gridCol>
                <a:gridCol w="1969690">
                  <a:extLst>
                    <a:ext uri="{9D8B030D-6E8A-4147-A177-3AD203B41FA5}">
                      <a16:colId xmlns:a16="http://schemas.microsoft.com/office/drawing/2014/main" val="2384784100"/>
                    </a:ext>
                  </a:extLst>
                </a:gridCol>
              </a:tblGrid>
              <a:tr h="630116">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665306">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Intelligent Prediction of Flood Disaster Risk Based on Knowledge Graph &amp; GNNs (2025)</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Regional flood disaster hazard and risk level classification.</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Knowledge Graph (KG) semantic </a:t>
                      </a:r>
                      <a:r>
                        <a:rPr lang="en-IN" sz="1400" b="0" dirty="0" err="1">
                          <a:effectLst/>
                          <a:latin typeface="Times New Roman" panose="02020603050405020304" pitchFamily="18" charset="0"/>
                          <a:cs typeface="Times New Roman" panose="02020603050405020304" pitchFamily="18" charset="0"/>
                        </a:rPr>
                        <a:t>modeling</a:t>
                      </a:r>
                      <a:r>
                        <a:rPr lang="en-IN" sz="1400" b="0" dirty="0">
                          <a:effectLst/>
                          <a:latin typeface="Times New Roman" panose="02020603050405020304" pitchFamily="18" charset="0"/>
                          <a:cs typeface="Times New Roman" panose="02020603050405020304" pitchFamily="18" charset="0"/>
                        </a:rPr>
                        <a:t> combined with Graph Convolutional Networks (GCN).</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Integrates spatial semantic entities with graph message passing for regional risk scoring.</a:t>
                      </a:r>
                    </a:p>
                  </a:txBody>
                  <a:tcPr anchor="ctr"/>
                </a:tc>
                <a:tc>
                  <a:txBody>
                    <a:bodyPr/>
                    <a:lstStyle/>
                    <a:p>
                      <a:pPr marL="0" marR="0" indent="0" algn="l">
                        <a:buNone/>
                      </a:pPr>
                      <a:r>
                        <a:rPr lang="en-IN" sz="1400" b="0">
                          <a:effectLst/>
                          <a:latin typeface="Times New Roman" panose="02020603050405020304" pitchFamily="18" charset="0"/>
                          <a:cs typeface="Times New Roman" panose="02020603050405020304" pitchFamily="18" charset="0"/>
                        </a:rPr>
                        <a:t>Overcomes isolated tabular data processing by capturing geographic spatial relations.</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Limited to static regional risk classes; does not model underground hydrodynamic pipe flows or continuous depths.</a:t>
                      </a:r>
                    </a:p>
                  </a:txBody>
                  <a:tcPr anchor="ctr"/>
                </a:tc>
                <a:extLst>
                  <a:ext uri="{0D108BD9-81ED-4DB2-BD59-A6C34878D82A}">
                    <a16:rowId xmlns:a16="http://schemas.microsoft.com/office/drawing/2014/main" val="1052962531"/>
                  </a:ext>
                </a:extLst>
              </a:tr>
              <a:tr h="1665306">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Maximum Flow Model with Multi-Origin &amp; Destination for Urban Drainage (2025)</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Urban drainage network capacity optimization and conduit bottlenecks.</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Multi-Origin Multi-Destination (MOMD) network flow linear programming on drainage graphs.</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Formulates optimal pipe dimensions and maximum flow distribution under storm peaks.</a:t>
                      </a:r>
                    </a:p>
                  </a:txBody>
                  <a:tcPr anchor="ctr"/>
                </a:tc>
                <a:tc>
                  <a:txBody>
                    <a:bodyPr/>
                    <a:lstStyle/>
                    <a:p>
                      <a:pPr marL="0" marR="0" indent="0" algn="l">
                        <a:buNone/>
                      </a:pPr>
                      <a:r>
                        <a:rPr lang="en-IN" sz="1400" b="0">
                          <a:effectLst/>
                          <a:latin typeface="Times New Roman" panose="02020603050405020304" pitchFamily="18" charset="0"/>
                          <a:cs typeface="Times New Roman" panose="02020603050405020304" pitchFamily="18" charset="0"/>
                        </a:rPr>
                        <a:t>Resolves multi-pipe junction flow congestion and hydraulic bottleneck allocation.</a:t>
                      </a:r>
                    </a:p>
                  </a:txBody>
                  <a:tcPr anchor="ctr"/>
                </a:tc>
                <a:tc>
                  <a:txBody>
                    <a:bodyPr/>
                    <a:lstStyle/>
                    <a:p>
                      <a:pPr marL="0" marR="0" indent="0" algn="l">
                        <a:buNone/>
                      </a:pPr>
                      <a:r>
                        <a:rPr lang="en-IN" sz="1400" b="0" dirty="0">
                          <a:effectLst/>
                          <a:latin typeface="Times New Roman" panose="02020603050405020304" pitchFamily="18" charset="0"/>
                          <a:cs typeface="Times New Roman" panose="02020603050405020304" pitchFamily="18" charset="0"/>
                        </a:rPr>
                        <a:t>Static network optimization; lacks real-time predictive nowcasting and deep learning integration during transient storms.</a:t>
                      </a:r>
                    </a:p>
                  </a:txBody>
                  <a:tcPr anchor="ctr"/>
                </a:tc>
                <a:extLst>
                  <a:ext uri="{0D108BD9-81ED-4DB2-BD59-A6C34878D82A}">
                    <a16:rowId xmlns:a16="http://schemas.microsoft.com/office/drawing/2014/main" val="2775585687"/>
                  </a:ext>
                </a:extLst>
              </a:tr>
              <a:tr h="1440265">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Physics-Informed Neural Networks for 2D Shallow Water &amp; Rainfall-Runoff (2025)</a:t>
                      </a:r>
                    </a:p>
                  </a:txBody>
                  <a:tcPr anchor="ctr"/>
                </a:tc>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Hydrodynamic flood wave propagation under intense rainfall events.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Physics-Informed Neural Networks (PINNs) solving Saint-Venant shallow water PDEs.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Replaces numerical discretization schemes with continuous neural PDE loss minimization.</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Eliminates numerical mesh instability and CFL time-step restrictions during steep wave fronts.</a:t>
                      </a:r>
                    </a:p>
                  </a:txBody>
                  <a:tcPr anchor="ctr"/>
                </a:tc>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Computationally prohibitive for large real-world pipe networks with thousands of branching conduits.</a:t>
                      </a:r>
                    </a:p>
                  </a:txBody>
                  <a:tcPr anchor="ctr"/>
                </a:tc>
                <a:extLst>
                  <a:ext uri="{0D108BD9-81ED-4DB2-BD59-A6C34878D82A}">
                    <a16:rowId xmlns:a16="http://schemas.microsoft.com/office/drawing/2014/main" val="4071540799"/>
                  </a:ext>
                </a:extLst>
              </a:tr>
            </a:tbl>
          </a:graphicData>
        </a:graphic>
      </p:graphicFrame>
    </p:spTree>
    <p:extLst>
      <p:ext uri="{BB962C8B-B14F-4D97-AF65-F5344CB8AC3E}">
        <p14:creationId xmlns:p14="http://schemas.microsoft.com/office/powerpoint/2010/main" val="3865373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E80AC-7612-46FF-38D6-A5C1D28FE7A7}"/>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6F95C293-5F7C-5C70-0F12-D5F730597B9E}"/>
              </a:ext>
            </a:extLst>
          </p:cNvPr>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Literature Review</a:t>
            </a:r>
          </a:p>
        </p:txBody>
      </p:sp>
      <p:sp>
        <p:nvSpPr>
          <p:cNvPr id="15363" name="Date Placeholder 3">
            <a:extLst>
              <a:ext uri="{FF2B5EF4-FFF2-40B4-BE49-F238E27FC236}">
                <a16:creationId xmlns:a16="http://schemas.microsoft.com/office/drawing/2014/main" id="{3862D426-554B-0CBB-32D1-0DA9807B4B5C}"/>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a:extLst>
              <a:ext uri="{FF2B5EF4-FFF2-40B4-BE49-F238E27FC236}">
                <a16:creationId xmlns:a16="http://schemas.microsoft.com/office/drawing/2014/main" id="{B599603F-1323-BDB0-0FE6-6E709364121F}"/>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a:extLst>
              <a:ext uri="{FF2B5EF4-FFF2-40B4-BE49-F238E27FC236}">
                <a16:creationId xmlns:a16="http://schemas.microsoft.com/office/drawing/2014/main" id="{00AA463C-C882-573E-32B7-AEC36146784C}"/>
              </a:ext>
            </a:extLst>
          </p:cNvPr>
          <p:cNvSpPr>
            <a:spLocks noGrp="1"/>
          </p:cNvSpPr>
          <p:nvPr>
            <p:ph type="sldNum" sz="quarter" idx="12"/>
          </p:nvPr>
        </p:nvSpPr>
        <p:spPr bwMode="auto">
          <a:noFill/>
          <a:ln>
            <a:miter lim="800000"/>
            <a:headEnd/>
            <a:tailEnd/>
          </a:ln>
        </p:spPr>
        <p:txBody>
          <a:bodyPr/>
          <a:lstStyle/>
          <a:p>
            <a:fld id="{9BA95D20-3DD7-486C-BDED-39A628F8F61B}" type="slidenum">
              <a:rPr lang="en-US" altLang="en-US"/>
              <a:pPr/>
              <a:t>6</a:t>
            </a:fld>
            <a:endParaRPr lang="en-US" altLang="en-US"/>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01DECAEF-DE25-2562-3302-8C551F9EED0E}"/>
                  </a:ext>
                </a:extLst>
              </p:cNvPr>
              <p:cNvGraphicFramePr>
                <a:graphicFrameLocks noGrp="1"/>
              </p:cNvGraphicFramePr>
              <p:nvPr/>
            </p:nvGraphicFramePr>
            <p:xfrm>
              <a:off x="314960" y="1046480"/>
              <a:ext cx="11460480" cy="4866640"/>
            </p:xfrm>
            <a:graphic>
              <a:graphicData uri="http://schemas.openxmlformats.org/drawingml/2006/table">
                <a:tbl>
                  <a:tblPr firstRow="1" bandRow="1">
                    <a:tableStyleId>{5C22544A-7EE6-4342-B048-85BDC9FD1C3A}</a:tableStyleId>
                  </a:tblPr>
                  <a:tblGrid>
                    <a:gridCol w="1910080">
                      <a:extLst>
                        <a:ext uri="{9D8B030D-6E8A-4147-A177-3AD203B41FA5}">
                          <a16:colId xmlns:a16="http://schemas.microsoft.com/office/drawing/2014/main" val="2863590796"/>
                        </a:ext>
                      </a:extLst>
                    </a:gridCol>
                    <a:gridCol w="1910080">
                      <a:extLst>
                        <a:ext uri="{9D8B030D-6E8A-4147-A177-3AD203B41FA5}">
                          <a16:colId xmlns:a16="http://schemas.microsoft.com/office/drawing/2014/main" val="3711355278"/>
                        </a:ext>
                      </a:extLst>
                    </a:gridCol>
                    <a:gridCol w="1910080">
                      <a:extLst>
                        <a:ext uri="{9D8B030D-6E8A-4147-A177-3AD203B41FA5}">
                          <a16:colId xmlns:a16="http://schemas.microsoft.com/office/drawing/2014/main" val="3392496085"/>
                        </a:ext>
                      </a:extLst>
                    </a:gridCol>
                    <a:gridCol w="1910080">
                      <a:extLst>
                        <a:ext uri="{9D8B030D-6E8A-4147-A177-3AD203B41FA5}">
                          <a16:colId xmlns:a16="http://schemas.microsoft.com/office/drawing/2014/main" val="3641150028"/>
                        </a:ext>
                      </a:extLst>
                    </a:gridCol>
                    <a:gridCol w="1910080">
                      <a:extLst>
                        <a:ext uri="{9D8B030D-6E8A-4147-A177-3AD203B41FA5}">
                          <a16:colId xmlns:a16="http://schemas.microsoft.com/office/drawing/2014/main" val="2657847349"/>
                        </a:ext>
                      </a:extLst>
                    </a:gridCol>
                    <a:gridCol w="1910080">
                      <a:extLst>
                        <a:ext uri="{9D8B030D-6E8A-4147-A177-3AD203B41FA5}">
                          <a16:colId xmlns:a16="http://schemas.microsoft.com/office/drawing/2014/main" val="2384784100"/>
                        </a:ext>
                      </a:extLst>
                    </a:gridCol>
                  </a:tblGrid>
                  <a:tr h="751840">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206501">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Graph Neural Networks as Fast Surrogates for Urban Drainage Hydrodynamics (2024)</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Accelerated emulation of 1D hydrodynamic pipe routing in municipal networks.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Message-passing GNNs trained on EPA-SWMM simulation trajectories.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Achieves millisecond hydraulic depth and pipe discharge predictions across entire sewer networks.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Drastically reduces runtime from 45 minutes in SWMM to </a:t>
                          </a:r>
                          <a14:m>
                            <m:oMath xmlns:m="http://schemas.openxmlformats.org/officeDocument/2006/math">
                              <m:r>
                                <a:rPr lang="en-IN" sz="1400" b="0" smtClean="0">
                                  <a:solidFill>
                                    <a:schemeClr val="tx1"/>
                                  </a:solidFill>
                                  <a:latin typeface="Cambria Math" panose="02040503050406030204" pitchFamily="18" charset="0"/>
                                </a:rPr>
                                <m:t>&lt;</m:t>
                              </m:r>
                              <m:r>
                                <a:rPr lang="en-IN" sz="1400" b="0" i="0" smtClean="0">
                                  <a:solidFill>
                                    <a:schemeClr val="tx1"/>
                                  </a:solidFill>
                                  <a:latin typeface="Cambria Math" panose="02040503050406030204" pitchFamily="18" charset="0"/>
                                </a:rPr>
                                <m:t>50</m:t>
                              </m:r>
                              <m:r>
                                <m:rPr>
                                  <m:nor/>
                                </m:rPr>
                                <a:rPr lang="en-IN" sz="1400" b="0" i="0">
                                  <a:solidFill>
                                    <a:schemeClr val="tx1"/>
                                  </a:solidFill>
                                  <a:latin typeface="Times New Roman" panose="02020603050405020304" pitchFamily="18" charset="0"/>
                                  <a:cs typeface="Times New Roman" panose="02020603050405020304" pitchFamily="18" charset="0"/>
                                </a:rPr>
                                <m:t> ms</m:t>
                              </m:r>
                            </m:oMath>
                          </a14:m>
                          <a:r>
                            <a:rPr lang="en-IN" sz="1400" b="0" i="0">
                              <a:solidFill>
                                <a:schemeClr val="tx1"/>
                              </a:solidFill>
                              <a:effectLst/>
                              <a:latin typeface="Times New Roman" panose="02020603050405020304" pitchFamily="18" charset="0"/>
                              <a:cs typeface="Times New Roman" panose="02020603050405020304" pitchFamily="18" charset="0"/>
                            </a:rPr>
                            <a:t> for real-time edge use.</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Uses pure mean-squared error without asymmetric flood peak penalties, causing extreme peak underestimation.</a:t>
                          </a:r>
                        </a:p>
                      </a:txBody>
                      <a:tcPr anchor="ctr"/>
                    </a:tc>
                    <a:extLst>
                      <a:ext uri="{0D108BD9-81ED-4DB2-BD59-A6C34878D82A}">
                        <a16:rowId xmlns:a16="http://schemas.microsoft.com/office/drawing/2014/main" val="1052962531"/>
                      </a:ext>
                    </a:extLst>
                  </a:tr>
                  <a:tr h="1206501">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Uncertainty Forecasting Model for Flood Based on Bayesian Deep Learning (2024 )</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Predictive uncertainty quantification and confidence interval estimation.</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Bayesian Neural Networks (BNN) with Monte Carlo variational inference.</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Generates calibrated 95% predictive confidence intervals alongside flood levels.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Mitigates deterministic deep learning overconfidence during extreme storm events.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Applied on natural mountain basins; lacks urban underground conduit topology and hydraulic friction constraints.</a:t>
                          </a:r>
                        </a:p>
                      </a:txBody>
                      <a:tcPr anchor="ctr"/>
                    </a:tc>
                    <a:extLst>
                      <a:ext uri="{0D108BD9-81ED-4DB2-BD59-A6C34878D82A}">
                        <a16:rowId xmlns:a16="http://schemas.microsoft.com/office/drawing/2014/main" val="2775585687"/>
                      </a:ext>
                    </a:extLst>
                  </a:tr>
                  <a:tr h="1206501">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Mountain Flood Level Forecasting in Small Watersheds Based on RNNs (2024)</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Multi-step ahead water stage forecasting under localized torrential storms.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Long Short-Term Memory (LSTM) and GRU networks fed with multi-sensor time series.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Establishes recurrent sequence-to-sequence mapping for short-lead crest forecasting.</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Overcomes standard RNN vanishing gradients over prolonged storm event sequences.</a:t>
                          </a:r>
                        </a:p>
                      </a:txBody>
                      <a:tcPr anchor="ctr"/>
                    </a:tc>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Purely temporal models lacking spatial graph topology; treats each junction as isolated, ignoring pipe connectivity.</a:t>
                          </a:r>
                        </a:p>
                      </a:txBody>
                      <a:tcPr anchor="ctr"/>
                    </a:tc>
                    <a:extLst>
                      <a:ext uri="{0D108BD9-81ED-4DB2-BD59-A6C34878D82A}">
                        <a16:rowId xmlns:a16="http://schemas.microsoft.com/office/drawing/2014/main" val="4071540799"/>
                      </a:ext>
                    </a:extLst>
                  </a:tr>
                </a:tbl>
              </a:graphicData>
            </a:graphic>
          </p:graphicFrame>
        </mc:Choice>
        <mc:Fallback xmlns="">
          <p:graphicFrame>
            <p:nvGraphicFramePr>
              <p:cNvPr id="3" name="Table 2">
                <a:extLst>
                  <a:ext uri="{FF2B5EF4-FFF2-40B4-BE49-F238E27FC236}">
                    <a16:creationId xmlns:a16="http://schemas.microsoft.com/office/drawing/2014/main" id="{01DECAEF-DE25-2562-3302-8C551F9EED0E}"/>
                  </a:ext>
                </a:extLst>
              </p:cNvPr>
              <p:cNvGraphicFramePr>
                <a:graphicFrameLocks noGrp="1"/>
              </p:cNvGraphicFramePr>
              <p:nvPr>
                <p:extLst>
                  <p:ext uri="{D42A27DB-BD31-4B8C-83A1-F6EECF244321}">
                    <p14:modId xmlns:p14="http://schemas.microsoft.com/office/powerpoint/2010/main" val="2273500144"/>
                  </p:ext>
                </p:extLst>
              </p:nvPr>
            </p:nvGraphicFramePr>
            <p:xfrm>
              <a:off x="314960" y="1046480"/>
              <a:ext cx="11460480" cy="4866640"/>
            </p:xfrm>
            <a:graphic>
              <a:graphicData uri="http://schemas.openxmlformats.org/drawingml/2006/table">
                <a:tbl>
                  <a:tblPr firstRow="1" bandRow="1">
                    <a:tableStyleId>{5C22544A-7EE6-4342-B048-85BDC9FD1C3A}</a:tableStyleId>
                  </a:tblPr>
                  <a:tblGrid>
                    <a:gridCol w="1910080">
                      <a:extLst>
                        <a:ext uri="{9D8B030D-6E8A-4147-A177-3AD203B41FA5}">
                          <a16:colId xmlns:a16="http://schemas.microsoft.com/office/drawing/2014/main" val="2863590796"/>
                        </a:ext>
                      </a:extLst>
                    </a:gridCol>
                    <a:gridCol w="1910080">
                      <a:extLst>
                        <a:ext uri="{9D8B030D-6E8A-4147-A177-3AD203B41FA5}">
                          <a16:colId xmlns:a16="http://schemas.microsoft.com/office/drawing/2014/main" val="3711355278"/>
                        </a:ext>
                      </a:extLst>
                    </a:gridCol>
                    <a:gridCol w="1910080">
                      <a:extLst>
                        <a:ext uri="{9D8B030D-6E8A-4147-A177-3AD203B41FA5}">
                          <a16:colId xmlns:a16="http://schemas.microsoft.com/office/drawing/2014/main" val="3392496085"/>
                        </a:ext>
                      </a:extLst>
                    </a:gridCol>
                    <a:gridCol w="1910080">
                      <a:extLst>
                        <a:ext uri="{9D8B030D-6E8A-4147-A177-3AD203B41FA5}">
                          <a16:colId xmlns:a16="http://schemas.microsoft.com/office/drawing/2014/main" val="3641150028"/>
                        </a:ext>
                      </a:extLst>
                    </a:gridCol>
                    <a:gridCol w="1910080">
                      <a:extLst>
                        <a:ext uri="{9D8B030D-6E8A-4147-A177-3AD203B41FA5}">
                          <a16:colId xmlns:a16="http://schemas.microsoft.com/office/drawing/2014/main" val="2657847349"/>
                        </a:ext>
                      </a:extLst>
                    </a:gridCol>
                    <a:gridCol w="1910080">
                      <a:extLst>
                        <a:ext uri="{9D8B030D-6E8A-4147-A177-3AD203B41FA5}">
                          <a16:colId xmlns:a16="http://schemas.microsoft.com/office/drawing/2014/main" val="2384784100"/>
                        </a:ext>
                      </a:extLst>
                    </a:gridCol>
                  </a:tblGrid>
                  <a:tr h="751840">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371600">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Graph Neural Networks as Fast Surrogates for Urban Drainage Hydrodynamics (2024)</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Accelerated emulation of 1D hydrodynamic pipe routing in municipal networks.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Message-passing GNNs trained on EPA-SWMM simulation trajectories.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Achieves millisecond hydraulic depth and pipe discharge predictions across entire sewer networks.</a:t>
                          </a:r>
                        </a:p>
                      </a:txBody>
                      <a:tcPr anchor="ctr"/>
                    </a:tc>
                    <a:tc>
                      <a:txBody>
                        <a:bodyPr/>
                        <a:lstStyle/>
                        <a:p>
                          <a:endParaRPr lang="en-US"/>
                        </a:p>
                      </a:txBody>
                      <a:tcPr anchor="ctr">
                        <a:blipFill>
                          <a:blip r:embed="rId2"/>
                          <a:stretch>
                            <a:fillRect l="-399682" t="-56637" r="-100955" b="-203540"/>
                          </a:stretch>
                        </a:blipFill>
                      </a:tcP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Uses pure mean-squared error without asymmetric flood peak penalties, causing extreme peak underestimation.</a:t>
                          </a:r>
                        </a:p>
                      </a:txBody>
                      <a:tcPr anchor="ctr"/>
                    </a:tc>
                    <a:extLst>
                      <a:ext uri="{0D108BD9-81ED-4DB2-BD59-A6C34878D82A}">
                        <a16:rowId xmlns:a16="http://schemas.microsoft.com/office/drawing/2014/main" val="1052962531"/>
                      </a:ext>
                    </a:extLst>
                  </a:tr>
                  <a:tr h="1371600">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Uncertainty Forecasting Model for Flood Based on Bayesian Deep Learning (2024 )</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Predictive uncertainty quantification and confidence interval estimation.</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Bayesian Neural Networks (BNN) with Monte Carlo variational inference.</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Generates calibrated 95% predictive confidence intervals alongside flood levels.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Mitigates deterministic deep learning overconfidence during extreme storm events.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Applied on natural mountain basins; lacks urban underground conduit topology and hydraulic friction constraints.</a:t>
                          </a:r>
                        </a:p>
                      </a:txBody>
                      <a:tcPr anchor="ctr"/>
                    </a:tc>
                    <a:extLst>
                      <a:ext uri="{0D108BD9-81ED-4DB2-BD59-A6C34878D82A}">
                        <a16:rowId xmlns:a16="http://schemas.microsoft.com/office/drawing/2014/main" val="2775585687"/>
                      </a:ext>
                    </a:extLst>
                  </a:tr>
                  <a:tr h="1371600">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Mountain Flood Level Forecasting in Small Watersheds Based on RNNs (2024)</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Multi-step ahead water stage forecasting under localized torrential storms.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Long Short-Term Memory (LSTM) and GRU networks fed with multi-sensor time series.</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Establishes recurrent sequence-to-sequence mapping for short-lead crest forecasting.</a:t>
                          </a:r>
                        </a:p>
                      </a:txBody>
                      <a:tcPr anchor="ctr"/>
                    </a:tc>
                    <a:tc>
                      <a:txBody>
                        <a:bodyPr/>
                        <a:lstStyle/>
                        <a:p>
                          <a:pPr marL="0" marR="0" indent="0" algn="l">
                            <a:buNone/>
                          </a:pPr>
                          <a:r>
                            <a:rPr lang="en-IN" sz="1400" b="0" i="0">
                              <a:solidFill>
                                <a:schemeClr val="tx1"/>
                              </a:solidFill>
                              <a:effectLst/>
                              <a:latin typeface="Times New Roman" panose="02020603050405020304" pitchFamily="18" charset="0"/>
                              <a:cs typeface="Times New Roman" panose="02020603050405020304" pitchFamily="18" charset="0"/>
                            </a:rPr>
                            <a:t>Overcomes standard RNN vanishing gradients over prolonged storm event sequences.</a:t>
                          </a:r>
                        </a:p>
                      </a:txBody>
                      <a:tcPr anchor="ctr"/>
                    </a:tc>
                    <a:tc>
                      <a:txBody>
                        <a:bodyPr/>
                        <a:lstStyle/>
                        <a:p>
                          <a:pPr marL="0" marR="0" indent="0" algn="l">
                            <a:buNone/>
                          </a:pPr>
                          <a:r>
                            <a:rPr lang="en-IN" sz="1400" b="0" i="0" dirty="0">
                              <a:solidFill>
                                <a:schemeClr val="tx1"/>
                              </a:solidFill>
                              <a:effectLst/>
                              <a:latin typeface="Times New Roman" panose="02020603050405020304" pitchFamily="18" charset="0"/>
                              <a:cs typeface="Times New Roman" panose="02020603050405020304" pitchFamily="18" charset="0"/>
                            </a:rPr>
                            <a:t>Purely temporal models lacking spatial graph topology; treats each junction as isolated, ignoring pipe connectivity.</a:t>
                          </a:r>
                        </a:p>
                      </a:txBody>
                      <a:tcPr anchor="ctr"/>
                    </a:tc>
                    <a:extLst>
                      <a:ext uri="{0D108BD9-81ED-4DB2-BD59-A6C34878D82A}">
                        <a16:rowId xmlns:a16="http://schemas.microsoft.com/office/drawing/2014/main" val="4071540799"/>
                      </a:ext>
                    </a:extLst>
                  </a:tr>
                </a:tbl>
              </a:graphicData>
            </a:graphic>
          </p:graphicFrame>
        </mc:Fallback>
      </mc:AlternateContent>
    </p:spTree>
    <p:extLst>
      <p:ext uri="{BB962C8B-B14F-4D97-AF65-F5344CB8AC3E}">
        <p14:creationId xmlns:p14="http://schemas.microsoft.com/office/powerpoint/2010/main" val="12077457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C5FC8-98AF-517C-CFAA-B9423B9A5CF5}"/>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DB4990A0-B335-3FE6-A4D8-C333650CB9FE}"/>
              </a:ext>
            </a:extLst>
          </p:cNvPr>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Literature Review</a:t>
            </a:r>
          </a:p>
        </p:txBody>
      </p:sp>
      <p:sp>
        <p:nvSpPr>
          <p:cNvPr id="15363" name="Date Placeholder 3">
            <a:extLst>
              <a:ext uri="{FF2B5EF4-FFF2-40B4-BE49-F238E27FC236}">
                <a16:creationId xmlns:a16="http://schemas.microsoft.com/office/drawing/2014/main" id="{80956BC8-CC04-F3AF-64E5-B935F56757B0}"/>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a:extLst>
              <a:ext uri="{FF2B5EF4-FFF2-40B4-BE49-F238E27FC236}">
                <a16:creationId xmlns:a16="http://schemas.microsoft.com/office/drawing/2014/main" id="{7708251A-59B9-ECB9-1039-041912DCF619}"/>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a:extLst>
              <a:ext uri="{FF2B5EF4-FFF2-40B4-BE49-F238E27FC236}">
                <a16:creationId xmlns:a16="http://schemas.microsoft.com/office/drawing/2014/main" id="{1ED1C85E-2F3C-575B-0114-28B040F1F331}"/>
              </a:ext>
            </a:extLst>
          </p:cNvPr>
          <p:cNvSpPr>
            <a:spLocks noGrp="1"/>
          </p:cNvSpPr>
          <p:nvPr>
            <p:ph type="sldNum" sz="quarter" idx="12"/>
          </p:nvPr>
        </p:nvSpPr>
        <p:spPr bwMode="auto">
          <a:noFill/>
          <a:ln>
            <a:miter lim="800000"/>
            <a:headEnd/>
            <a:tailEnd/>
          </a:ln>
        </p:spPr>
        <p:txBody>
          <a:bodyPr/>
          <a:lstStyle/>
          <a:p>
            <a:fld id="{9BA95D20-3DD7-486C-BDED-39A628F8F61B}" type="slidenum">
              <a:rPr lang="en-US" altLang="en-US"/>
              <a:pPr/>
              <a:t>7</a:t>
            </a:fld>
            <a:endParaRPr lang="en-US" altLang="en-US"/>
          </a:p>
        </p:txBody>
      </p:sp>
      <p:graphicFrame>
        <p:nvGraphicFramePr>
          <p:cNvPr id="3" name="Table 2">
            <a:extLst>
              <a:ext uri="{FF2B5EF4-FFF2-40B4-BE49-F238E27FC236}">
                <a16:creationId xmlns:a16="http://schemas.microsoft.com/office/drawing/2014/main" id="{8E7BCE5D-BCE1-66BF-79E0-B1AAEAA6B3A0}"/>
              </a:ext>
            </a:extLst>
          </p:cNvPr>
          <p:cNvGraphicFramePr>
            <a:graphicFrameLocks noGrp="1"/>
          </p:cNvGraphicFramePr>
          <p:nvPr/>
        </p:nvGraphicFramePr>
        <p:xfrm>
          <a:off x="314960" y="1046480"/>
          <a:ext cx="11460480" cy="2214880"/>
        </p:xfrm>
        <a:graphic>
          <a:graphicData uri="http://schemas.openxmlformats.org/drawingml/2006/table">
            <a:tbl>
              <a:tblPr firstRow="1" bandRow="1">
                <a:tableStyleId>{5C22544A-7EE6-4342-B048-85BDC9FD1C3A}</a:tableStyleId>
              </a:tblPr>
              <a:tblGrid>
                <a:gridCol w="1910080">
                  <a:extLst>
                    <a:ext uri="{9D8B030D-6E8A-4147-A177-3AD203B41FA5}">
                      <a16:colId xmlns:a16="http://schemas.microsoft.com/office/drawing/2014/main" val="2863590796"/>
                    </a:ext>
                  </a:extLst>
                </a:gridCol>
                <a:gridCol w="1910080">
                  <a:extLst>
                    <a:ext uri="{9D8B030D-6E8A-4147-A177-3AD203B41FA5}">
                      <a16:colId xmlns:a16="http://schemas.microsoft.com/office/drawing/2014/main" val="3711355278"/>
                    </a:ext>
                  </a:extLst>
                </a:gridCol>
                <a:gridCol w="1910080">
                  <a:extLst>
                    <a:ext uri="{9D8B030D-6E8A-4147-A177-3AD203B41FA5}">
                      <a16:colId xmlns:a16="http://schemas.microsoft.com/office/drawing/2014/main" val="3392496085"/>
                    </a:ext>
                  </a:extLst>
                </a:gridCol>
                <a:gridCol w="1910080">
                  <a:extLst>
                    <a:ext uri="{9D8B030D-6E8A-4147-A177-3AD203B41FA5}">
                      <a16:colId xmlns:a16="http://schemas.microsoft.com/office/drawing/2014/main" val="3641150028"/>
                    </a:ext>
                  </a:extLst>
                </a:gridCol>
                <a:gridCol w="1910080">
                  <a:extLst>
                    <a:ext uri="{9D8B030D-6E8A-4147-A177-3AD203B41FA5}">
                      <a16:colId xmlns:a16="http://schemas.microsoft.com/office/drawing/2014/main" val="2657847349"/>
                    </a:ext>
                  </a:extLst>
                </a:gridCol>
                <a:gridCol w="1910080">
                  <a:extLst>
                    <a:ext uri="{9D8B030D-6E8A-4147-A177-3AD203B41FA5}">
                      <a16:colId xmlns:a16="http://schemas.microsoft.com/office/drawing/2014/main" val="2384784100"/>
                    </a:ext>
                  </a:extLst>
                </a:gridCol>
              </a:tblGrid>
              <a:tr h="751840">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Paper Title</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Study Focus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Methodology</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Key Contributions</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Challenges Addressed</a:t>
                      </a:r>
                      <a:endParaRPr lang="en-IN" sz="1800" b="1" dirty="0">
                        <a:latin typeface="Times New Roman" panose="02020603050405020304" pitchFamily="18" charset="0"/>
                        <a:cs typeface="Times New Roman" panose="02020603050405020304" pitchFamily="18" charset="0"/>
                      </a:endParaRPr>
                    </a:p>
                  </a:txBody>
                  <a:tcPr/>
                </a:tc>
                <a:tc>
                  <a:txBody>
                    <a:bodyPr/>
                    <a:lstStyle/>
                    <a:p>
                      <a:r>
                        <a:rPr lang="en-IN" sz="1800" b="1" i="0" kern="1200" dirty="0">
                          <a:solidFill>
                            <a:schemeClr val="lt1"/>
                          </a:solidFill>
                          <a:effectLst/>
                          <a:latin typeface="Times New Roman" panose="02020603050405020304" pitchFamily="18" charset="0"/>
                          <a:ea typeface="+mn-ea"/>
                          <a:cs typeface="Times New Roman" panose="02020603050405020304" pitchFamily="18" charset="0"/>
                        </a:rPr>
                        <a:t>Research Gaps</a:t>
                      </a:r>
                      <a:endParaRPr lang="en-IN" sz="1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89944371"/>
                  </a:ext>
                </a:extLst>
              </a:tr>
              <a:tr h="1206501">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Graph Convolutional Recurrent Network for Spatio-Temporal Flood Prediction (2024)</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Joint spatial-temporal feature propagation across hydrological gauge networks.</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Graph Convolutional Recurrent Neural Network (GCRNN) with ChebNet filters.</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Propagates upstream temporal rainfall features along physical stream network graph edges.</a:t>
                      </a:r>
                    </a:p>
                  </a:txBody>
                  <a:tcPr anchor="ctr"/>
                </a:tc>
                <a:tc>
                  <a:txBody>
                    <a:bodyPr/>
                    <a:lstStyle/>
                    <a:p>
                      <a:pPr marL="0" marR="0" indent="0" algn="l">
                        <a:buNone/>
                      </a:pPr>
                      <a:r>
                        <a:rPr lang="en-IN" sz="1500" b="0" i="0">
                          <a:solidFill>
                            <a:schemeClr val="tx1"/>
                          </a:solidFill>
                          <a:effectLst/>
                          <a:latin typeface="Times New Roman" panose="02020603050405020304" pitchFamily="18" charset="0"/>
                          <a:cs typeface="Times New Roman" panose="02020603050405020304" pitchFamily="18" charset="0"/>
                        </a:rPr>
                        <a:t>Addresses spatial lag and travel-time delay of flood crests moving down branching catchments.</a:t>
                      </a:r>
                    </a:p>
                  </a:txBody>
                  <a:tcPr anchor="ctr"/>
                </a:tc>
                <a:tc>
                  <a:txBody>
                    <a:bodyPr/>
                    <a:lstStyle/>
                    <a:p>
                      <a:pPr marL="0" marR="0" indent="0" algn="l">
                        <a:buNone/>
                      </a:pPr>
                      <a:r>
                        <a:rPr lang="en-IN" sz="1500" b="0" i="0" dirty="0">
                          <a:solidFill>
                            <a:schemeClr val="tx1"/>
                          </a:solidFill>
                          <a:effectLst/>
                          <a:latin typeface="Times New Roman" panose="02020603050405020304" pitchFamily="18" charset="0"/>
                          <a:cs typeface="Times New Roman" panose="02020603050405020304" pitchFamily="18" charset="0"/>
                        </a:rPr>
                        <a:t>Designed for open natural river channels; does not handle pressurized pipe surcharge or backwater effects.</a:t>
                      </a:r>
                    </a:p>
                  </a:txBody>
                  <a:tcPr anchor="ctr"/>
                </a:tc>
                <a:extLst>
                  <a:ext uri="{0D108BD9-81ED-4DB2-BD59-A6C34878D82A}">
                    <a16:rowId xmlns:a16="http://schemas.microsoft.com/office/drawing/2014/main" val="1052962531"/>
                  </a:ext>
                </a:extLst>
              </a:tr>
            </a:tbl>
          </a:graphicData>
        </a:graphic>
      </p:graphicFrame>
    </p:spTree>
    <p:extLst>
      <p:ext uri="{BB962C8B-B14F-4D97-AF65-F5344CB8AC3E}">
        <p14:creationId xmlns:p14="http://schemas.microsoft.com/office/powerpoint/2010/main" val="3310190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 Problem Statement</a:t>
            </a:r>
          </a:p>
        </p:txBody>
      </p:sp>
      <p:sp>
        <p:nvSpPr>
          <p:cNvPr id="15363"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p:cNvSpPr>
            <a:spLocks noGrp="1"/>
          </p:cNvSpPr>
          <p:nvPr>
            <p:ph type="sldNum" sz="quarter" idx="12"/>
          </p:nvPr>
        </p:nvSpPr>
        <p:spPr bwMode="auto">
          <a:noFill/>
          <a:ln>
            <a:miter lim="800000"/>
            <a:headEnd/>
            <a:tailEnd/>
          </a:ln>
        </p:spPr>
        <p:txBody>
          <a:bodyPr/>
          <a:lstStyle/>
          <a:p>
            <a:fld id="{9BA95D20-3DD7-486C-BDED-39A628F8F61B}" type="slidenum">
              <a:rPr lang="en-US" altLang="en-US"/>
              <a:pPr/>
              <a:t>8</a:t>
            </a:fld>
            <a:endParaRPr lang="en-US" altLang="en-US"/>
          </a:p>
        </p:txBody>
      </p:sp>
      <p:sp>
        <p:nvSpPr>
          <p:cNvPr id="2" name="TextBox 1">
            <a:extLst>
              <a:ext uri="{FF2B5EF4-FFF2-40B4-BE49-F238E27FC236}">
                <a16:creationId xmlns:a16="http://schemas.microsoft.com/office/drawing/2014/main" id="{239220D0-7BCC-8887-C424-89CA539AB454}"/>
              </a:ext>
            </a:extLst>
          </p:cNvPr>
          <p:cNvSpPr txBox="1"/>
          <p:nvPr/>
        </p:nvSpPr>
        <p:spPr>
          <a:xfrm>
            <a:off x="271789" y="1144230"/>
            <a:ext cx="11648422" cy="1938992"/>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Rapid urbanization and frequent cloudbursts in Greater Hyderabad cause urban drainage networks to surcharge and flood within minutes. Existing hydraulic simulation tools are computationally too slow for real-time emergency alerts, while standard AI models operate as black boxes that ignore physical drainage laws and fail during extreme flood peaks. There is no real-time urban drainage system that combines the millisecond speed of deep learning with hydrodynamic physical constraints to provide reliable multi-horizon flood forecasting and decision support.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1B31E-99CD-C83F-128F-DC47314216FB}"/>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0EE6307A-3607-8831-F4D2-019C0E70D8CC}"/>
              </a:ext>
            </a:extLst>
          </p:cNvPr>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Research Gap</a:t>
            </a:r>
          </a:p>
        </p:txBody>
      </p:sp>
      <p:sp>
        <p:nvSpPr>
          <p:cNvPr id="15363" name="Date Placeholder 3">
            <a:extLst>
              <a:ext uri="{FF2B5EF4-FFF2-40B4-BE49-F238E27FC236}">
                <a16:creationId xmlns:a16="http://schemas.microsoft.com/office/drawing/2014/main" id="{69A16FF4-347F-9349-E50F-E121B7CABDEE}"/>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a:extLst>
              <a:ext uri="{FF2B5EF4-FFF2-40B4-BE49-F238E27FC236}">
                <a16:creationId xmlns:a16="http://schemas.microsoft.com/office/drawing/2014/main" id="{08F482AC-D0EB-F360-82A1-858A903CAA9A}"/>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a:extLst>
              <a:ext uri="{FF2B5EF4-FFF2-40B4-BE49-F238E27FC236}">
                <a16:creationId xmlns:a16="http://schemas.microsoft.com/office/drawing/2014/main" id="{95D18E02-5EF8-39E0-5E04-E505D92BFB07}"/>
              </a:ext>
            </a:extLst>
          </p:cNvPr>
          <p:cNvSpPr>
            <a:spLocks noGrp="1"/>
          </p:cNvSpPr>
          <p:nvPr>
            <p:ph type="sldNum" sz="quarter" idx="12"/>
          </p:nvPr>
        </p:nvSpPr>
        <p:spPr bwMode="auto">
          <a:noFill/>
          <a:ln>
            <a:miter lim="800000"/>
            <a:headEnd/>
            <a:tailEnd/>
          </a:ln>
        </p:spPr>
        <p:txBody>
          <a:bodyPr/>
          <a:lstStyle/>
          <a:p>
            <a:fld id="{9BA95D20-3DD7-486C-BDED-39A628F8F61B}" type="slidenum">
              <a:rPr lang="en-US" altLang="en-US"/>
              <a:pPr/>
              <a:t>9</a:t>
            </a:fld>
            <a:endParaRPr lang="en-US" altLang="en-US"/>
          </a:p>
        </p:txBody>
      </p:sp>
      <p:sp>
        <p:nvSpPr>
          <p:cNvPr id="2" name="TextBox 1">
            <a:extLst>
              <a:ext uri="{FF2B5EF4-FFF2-40B4-BE49-F238E27FC236}">
                <a16:creationId xmlns:a16="http://schemas.microsoft.com/office/drawing/2014/main" id="{735CC257-B38B-E4F3-BD32-044E01A415CF}"/>
              </a:ext>
            </a:extLst>
          </p:cNvPr>
          <p:cNvSpPr txBox="1"/>
          <p:nvPr/>
        </p:nvSpPr>
        <p:spPr>
          <a:xfrm>
            <a:off x="271789" y="1144230"/>
            <a:ext cx="11648422" cy="4708981"/>
          </a:xfrm>
          <a:prstGeom prst="rect">
            <a:avLst/>
          </a:prstGeom>
          <a:noFill/>
        </p:spPr>
        <p:txBody>
          <a:bodyPr wrap="square" rtlCol="0">
            <a:spAutoFit/>
          </a:bodyPr>
          <a:lstStyle/>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Existing flood forecasting systems mainly focus on individual components such as rainfall prediction, runoff estimation, or pipe overflow detection — without integrating them end-to-end.</a:t>
            </a:r>
          </a:p>
          <a:p>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Limited fusion of physics-based hydraulic constraints, spatial graph topology, and temporal deep learning into a single unified forecasting model.</a:t>
            </a:r>
          </a:p>
          <a:p>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Most data-driven flood models lack explainability, making it difficult to interpret predictions or trust alerts in real operational settings.</a:t>
            </a:r>
          </a:p>
          <a:p>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Graph neural network approaches for urban drainage rarely incorporate physics-guided loss terms, leading to physically inconsistent predictions during extreme events.</a:t>
            </a:r>
          </a:p>
          <a:p>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Phy</a:t>
            </a:r>
            <a:r>
              <a:rPr lang="en-IN" sz="2000" dirty="0">
                <a:latin typeface="Times New Roman" panose="02020603050405020304" pitchFamily="18" charset="0"/>
                <a:cs typeface="Times New Roman" panose="02020603050405020304" pitchFamily="18" charset="0"/>
              </a:rPr>
              <a:t>-DSTGNN addresses these gaps through a physics-constrained, </a:t>
            </a:r>
            <a:r>
              <a:rPr lang="en-IN" sz="2000" dirty="0" err="1">
                <a:latin typeface="Times New Roman" panose="02020603050405020304" pitchFamily="18" charset="0"/>
                <a:cs typeface="Times New Roman" panose="02020603050405020304" pitchFamily="18" charset="0"/>
              </a:rPr>
              <a:t>spatio</a:t>
            </a:r>
            <a:r>
              <a:rPr lang="en-IN" sz="2000" dirty="0">
                <a:latin typeface="Times New Roman" panose="02020603050405020304" pitchFamily="18" charset="0"/>
                <a:cs typeface="Times New Roman" panose="02020603050405020304" pitchFamily="18" charset="0"/>
              </a:rPr>
              <a:t>-temporal graph architecture that delivers real-time, explainable, and hydraulically consistent flood depth forecasts for urban drainage networks.</a:t>
            </a:r>
          </a:p>
        </p:txBody>
      </p:sp>
    </p:spTree>
    <p:extLst>
      <p:ext uri="{BB962C8B-B14F-4D97-AF65-F5344CB8AC3E}">
        <p14:creationId xmlns:p14="http://schemas.microsoft.com/office/powerpoint/2010/main" val="3420881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Objectives</a:t>
            </a:r>
          </a:p>
        </p:txBody>
      </p:sp>
      <p:sp>
        <p:nvSpPr>
          <p:cNvPr id="18435"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8436"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0245" name="Slide Number Placeholder 5"/>
          <p:cNvSpPr>
            <a:spLocks noGrp="1"/>
          </p:cNvSpPr>
          <p:nvPr>
            <p:ph type="sldNum" sz="quarter" idx="12"/>
          </p:nvPr>
        </p:nvSpPr>
        <p:spPr bwMode="auto">
          <a:noFill/>
          <a:ln>
            <a:miter lim="800000"/>
            <a:headEnd/>
            <a:tailEnd/>
          </a:ln>
        </p:spPr>
        <p:txBody>
          <a:bodyPr/>
          <a:lstStyle/>
          <a:p>
            <a:fld id="{12B54055-D293-41A4-A00A-384E787F4E19}" type="slidenum">
              <a:rPr lang="en-US" altLang="en-US"/>
              <a:pPr/>
              <a:t>10</a:t>
            </a:fld>
            <a:endParaRPr lang="en-US" altLang="en-US"/>
          </a:p>
        </p:txBody>
      </p:sp>
      <p:sp>
        <p:nvSpPr>
          <p:cNvPr id="2" name="TextBox 1">
            <a:extLst>
              <a:ext uri="{FF2B5EF4-FFF2-40B4-BE49-F238E27FC236}">
                <a16:creationId xmlns:a16="http://schemas.microsoft.com/office/drawing/2014/main" id="{B328379B-C5AD-38D8-768E-FD3EE2414C9C}"/>
              </a:ext>
            </a:extLst>
          </p:cNvPr>
          <p:cNvSpPr txBox="1"/>
          <p:nvPr/>
        </p:nvSpPr>
        <p:spPr>
          <a:xfrm>
            <a:off x="144221" y="1247563"/>
            <a:ext cx="11680835" cy="2031325"/>
          </a:xfrm>
          <a:prstGeom prst="rect">
            <a:avLst/>
          </a:prstGeom>
          <a:noFill/>
        </p:spPr>
        <p:txBody>
          <a:bodyPr wrap="square" rtlCol="0">
            <a:spAutoFit/>
          </a:bodyPr>
          <a:lstStyle/>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Develop a physics-guided graph neural network (</a:t>
            </a:r>
            <a:r>
              <a:rPr lang="en-IN" dirty="0" err="1">
                <a:latin typeface="Times New Roman" panose="02020603050405020304" pitchFamily="18" charset="0"/>
                <a:cs typeface="Times New Roman" panose="02020603050405020304" pitchFamily="18" charset="0"/>
              </a:rPr>
              <a:t>Phy</a:t>
            </a:r>
            <a:r>
              <a:rPr lang="en-IN" dirty="0">
                <a:latin typeface="Times New Roman" panose="02020603050405020304" pitchFamily="18" charset="0"/>
                <a:cs typeface="Times New Roman" panose="02020603050405020304" pitchFamily="18" charset="0"/>
              </a:rPr>
              <a:t>-DSTGNN) for real-time urban flood and surcharge forecasting.</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Predict multi-horizon water depth and overflow using Graph Attention (GAT) and Temporal Convolutional Networks (TCN).</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Embed hydraulic physical constraints directly into the loss function to prevent physically impossible predictions.</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 model interpretability using Integrated Gradients (XAI) and Monte Carlo Dropout uncertainty estimation.</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Build an interactive GIS decision-support dashboard for Greater Hyderabad corridors to automate flood response protocols.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3EA85-6A6B-61C0-BD6C-BC02DEF0BAA8}"/>
            </a:ext>
          </a:extLst>
        </p:cNvPr>
        <p:cNvGrpSpPr/>
        <p:nvPr/>
      </p:nvGrpSpPr>
      <p:grpSpPr>
        <a:xfrm>
          <a:off x="0" y="0"/>
          <a:ext cx="0" cy="0"/>
          <a:chOff x="0" y="0"/>
          <a:chExt cx="0" cy="0"/>
        </a:xfrm>
      </p:grpSpPr>
      <p:sp>
        <p:nvSpPr>
          <p:cNvPr id="9218" name="Title 1">
            <a:extLst>
              <a:ext uri="{FF2B5EF4-FFF2-40B4-BE49-F238E27FC236}">
                <a16:creationId xmlns:a16="http://schemas.microsoft.com/office/drawing/2014/main" id="{236ABD05-785E-18BA-963F-67A9E6ACBC22}"/>
              </a:ext>
            </a:extLst>
          </p:cNvPr>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Proposed Methodology</a:t>
            </a:r>
          </a:p>
        </p:txBody>
      </p:sp>
      <p:sp>
        <p:nvSpPr>
          <p:cNvPr id="15363" name="Date Placeholder 3">
            <a:extLst>
              <a:ext uri="{FF2B5EF4-FFF2-40B4-BE49-F238E27FC236}">
                <a16:creationId xmlns:a16="http://schemas.microsoft.com/office/drawing/2014/main" id="{E0292B00-FC3E-ED24-87FA-837CFC5BB294}"/>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a:extLst>
              <a:ext uri="{FF2B5EF4-FFF2-40B4-BE49-F238E27FC236}">
                <a16:creationId xmlns:a16="http://schemas.microsoft.com/office/drawing/2014/main" id="{068E90FB-0DD8-C638-4B25-3D5FF71D33D4}"/>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a:extLst>
              <a:ext uri="{FF2B5EF4-FFF2-40B4-BE49-F238E27FC236}">
                <a16:creationId xmlns:a16="http://schemas.microsoft.com/office/drawing/2014/main" id="{2FC696F9-368E-CBC3-D8B0-E9288BBA44B6}"/>
              </a:ext>
            </a:extLst>
          </p:cNvPr>
          <p:cNvSpPr>
            <a:spLocks noGrp="1"/>
          </p:cNvSpPr>
          <p:nvPr>
            <p:ph type="sldNum" sz="quarter" idx="12"/>
          </p:nvPr>
        </p:nvSpPr>
        <p:spPr bwMode="auto">
          <a:noFill/>
          <a:ln>
            <a:miter lim="800000"/>
            <a:headEnd/>
            <a:tailEnd/>
          </a:ln>
        </p:spPr>
        <p:txBody>
          <a:bodyPr/>
          <a:lstStyle/>
          <a:p>
            <a:fld id="{9BA95D20-3DD7-486C-BDED-39A628F8F61B}" type="slidenum">
              <a:rPr lang="en-US" altLang="en-US"/>
              <a:pPr/>
              <a:t>11</a:t>
            </a:fld>
            <a:endParaRPr lang="en-US" altLang="en-US"/>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35999DE-CFAB-43EF-B7B2-4E68658F3D9A}"/>
                  </a:ext>
                </a:extLst>
              </p:cNvPr>
              <p:cNvSpPr txBox="1"/>
              <p:nvPr/>
            </p:nvSpPr>
            <p:spPr>
              <a:xfrm>
                <a:off x="271789" y="917912"/>
                <a:ext cx="11648422" cy="5501506"/>
              </a:xfrm>
              <a:prstGeom prst="rect">
                <a:avLst/>
              </a:prstGeom>
              <a:noFill/>
            </p:spPr>
            <p:txBody>
              <a:bodyPr wrap="square" rtlCol="0">
                <a:spAutoFit/>
              </a:bodyPr>
              <a:lstStyle/>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Data Collection &amp; Synthesis:</a:t>
                </a:r>
                <a:r>
                  <a:rPr lang="en-IN" sz="1850" dirty="0">
                    <a:latin typeface="Times New Roman" panose="02020603050405020304" pitchFamily="18" charset="0"/>
                    <a:cs typeface="Times New Roman" panose="02020603050405020304" pitchFamily="18" charset="0"/>
                  </a:rPr>
                  <a:t> Calibrate rainfall time series using IMD Begumpet IDF data and Copernicus elevation profiles.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Drainage Graph Construction:</a:t>
                </a:r>
                <a:r>
                  <a:rPr lang="en-IN" sz="1850" dirty="0">
                    <a:latin typeface="Times New Roman" panose="02020603050405020304" pitchFamily="18" charset="0"/>
                    <a:cs typeface="Times New Roman" panose="02020603050405020304" pitchFamily="18" charset="0"/>
                  </a:rPr>
                  <a:t> Model a 72-node, 66-pipe directed graph across 6 flood-prone Hyderabad corridors.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Hydrodynamic Simulation:</a:t>
                </a:r>
                <a:r>
                  <a:rPr lang="en-IN" sz="1850" dirty="0">
                    <a:latin typeface="Times New Roman" panose="02020603050405020304" pitchFamily="18" charset="0"/>
                    <a:cs typeface="Times New Roman" panose="02020603050405020304" pitchFamily="18" charset="0"/>
                  </a:rPr>
                  <a:t> Generate ground-truth water depths and surcharge states using 1D Manning flow routing.</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Data Preprocessing:</a:t>
                </a:r>
                <a:r>
                  <a:rPr lang="en-IN" sz="1850" dirty="0">
                    <a:latin typeface="Times New Roman" panose="02020603050405020304" pitchFamily="18" charset="0"/>
                    <a:cs typeface="Times New Roman" panose="02020603050405020304" pitchFamily="18" charset="0"/>
                  </a:rPr>
                  <a:t> Clean, normalize, and construct multi-horizon sliding windows (</a:t>
                </a:r>
                <a14:m>
                  <m:oMath xmlns:m="http://schemas.openxmlformats.org/officeDocument/2006/math">
                    <m:r>
                      <a:rPr lang="en-IN" sz="1850" i="1">
                        <a:latin typeface="Cambria Math" panose="02040503050406030204" pitchFamily="18" charset="0"/>
                      </a:rPr>
                      <m:t>𝑡</m:t>
                    </m:r>
                    <m:r>
                      <a:rPr lang="en-IN" sz="1850">
                        <a:latin typeface="Cambria Math" panose="02040503050406030204" pitchFamily="18" charset="0"/>
                      </a:rPr>
                      <m:t>+5</m:t>
                    </m:r>
                    <m:r>
                      <m:rPr>
                        <m:nor/>
                      </m:rPr>
                      <a:rPr lang="en-IN" sz="1850" i="0">
                        <a:latin typeface="Times New Roman" panose="02020603050405020304" pitchFamily="18" charset="0"/>
                        <a:cs typeface="Times New Roman" panose="02020603050405020304" pitchFamily="18" charset="0"/>
                      </a:rPr>
                      <m:t>m</m:t>
                    </m:r>
                  </m:oMath>
                </a14:m>
                <a:r>
                  <a:rPr lang="en-IN" sz="1850" dirty="0">
                    <a:latin typeface="Times New Roman" panose="02020603050405020304" pitchFamily="18" charset="0"/>
                    <a:cs typeface="Times New Roman" panose="02020603050405020304" pitchFamily="18" charset="0"/>
                  </a:rPr>
                  <a:t> to </a:t>
                </a:r>
                <a14:m>
                  <m:oMath xmlns:m="http://schemas.openxmlformats.org/officeDocument/2006/math">
                    <m:r>
                      <a:rPr lang="en-IN" sz="1850" i="1">
                        <a:latin typeface="Cambria Math" panose="02040503050406030204" pitchFamily="18" charset="0"/>
                      </a:rPr>
                      <m:t>𝑡</m:t>
                    </m:r>
                    <m:r>
                      <a:rPr lang="en-IN" sz="1850">
                        <a:latin typeface="Cambria Math" panose="02040503050406030204" pitchFamily="18" charset="0"/>
                      </a:rPr>
                      <m:t>+120</m:t>
                    </m:r>
                    <m:r>
                      <m:rPr>
                        <m:nor/>
                      </m:rPr>
                      <a:rPr lang="en-IN" sz="1850" i="0">
                        <a:latin typeface="Times New Roman" panose="02020603050405020304" pitchFamily="18" charset="0"/>
                        <a:cs typeface="Times New Roman" panose="02020603050405020304" pitchFamily="18" charset="0"/>
                      </a:rPr>
                      <m:t>m</m:t>
                    </m:r>
                  </m:oMath>
                </a14:m>
                <a:r>
                  <a:rPr lang="en-IN" sz="1850" dirty="0">
                    <a:latin typeface="Times New Roman" panose="02020603050405020304" pitchFamily="18" charset="0"/>
                    <a:cs typeface="Times New Roman" panose="02020603050405020304" pitchFamily="18" charset="0"/>
                  </a:rPr>
                  <a:t>).</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Multi-Model Architecture Development:</a:t>
                </a:r>
                <a:r>
                  <a:rPr lang="en-IN" sz="1850" dirty="0">
                    <a:latin typeface="Times New Roman" panose="02020603050405020304" pitchFamily="18" charset="0"/>
                    <a:cs typeface="Times New Roman" panose="02020603050405020304" pitchFamily="18" charset="0"/>
                  </a:rPr>
                  <a:t> Implement 4 distinct models — proposed </a:t>
                </a:r>
                <a:r>
                  <a:rPr lang="en-IN" sz="1850" b="1" dirty="0" err="1">
                    <a:latin typeface="Times New Roman" panose="02020603050405020304" pitchFamily="18" charset="0"/>
                    <a:cs typeface="Times New Roman" panose="02020603050405020304" pitchFamily="18" charset="0"/>
                  </a:rPr>
                  <a:t>Phy</a:t>
                </a:r>
                <a:r>
                  <a:rPr lang="en-IN" sz="1850" b="1" dirty="0">
                    <a:latin typeface="Times New Roman" panose="02020603050405020304" pitchFamily="18" charset="0"/>
                    <a:cs typeface="Times New Roman" panose="02020603050405020304" pitchFamily="18" charset="0"/>
                  </a:rPr>
                  <a:t>-DSTGNN</a:t>
                </a:r>
                <a:r>
                  <a:rPr lang="en-IN" sz="1850" dirty="0">
                    <a:latin typeface="Times New Roman" panose="02020603050405020304" pitchFamily="18" charset="0"/>
                    <a:cs typeface="Times New Roman" panose="02020603050405020304" pitchFamily="18" charset="0"/>
                  </a:rPr>
                  <a:t> (GAT + TCN), alongside </a:t>
                </a:r>
                <a:r>
                  <a:rPr lang="en-IN" sz="1850" b="1" dirty="0">
                    <a:latin typeface="Times New Roman" panose="02020603050405020304" pitchFamily="18" charset="0"/>
                    <a:cs typeface="Times New Roman" panose="02020603050405020304" pitchFamily="18" charset="0"/>
                  </a:rPr>
                  <a:t>GRU</a:t>
                </a:r>
                <a:r>
                  <a:rPr lang="en-IN" sz="1850" dirty="0">
                    <a:latin typeface="Times New Roman" panose="02020603050405020304" pitchFamily="18" charset="0"/>
                    <a:cs typeface="Times New Roman" panose="02020603050405020304" pitchFamily="18" charset="0"/>
                  </a:rPr>
                  <a:t>, </a:t>
                </a:r>
                <a:r>
                  <a:rPr lang="en-IN" sz="1850" b="1" dirty="0">
                    <a:latin typeface="Times New Roman" panose="02020603050405020304" pitchFamily="18" charset="0"/>
                    <a:cs typeface="Times New Roman" panose="02020603050405020304" pitchFamily="18" charset="0"/>
                  </a:rPr>
                  <a:t>LSTM</a:t>
                </a:r>
                <a:r>
                  <a:rPr lang="en-IN" sz="1850" dirty="0">
                    <a:latin typeface="Times New Roman" panose="02020603050405020304" pitchFamily="18" charset="0"/>
                    <a:cs typeface="Times New Roman" panose="02020603050405020304" pitchFamily="18" charset="0"/>
                  </a:rPr>
                  <a:t>, and </a:t>
                </a:r>
                <a:r>
                  <a:rPr lang="en-IN" sz="1850" b="1" dirty="0">
                    <a:latin typeface="Times New Roman" panose="02020603050405020304" pitchFamily="18" charset="0"/>
                    <a:cs typeface="Times New Roman" panose="02020603050405020304" pitchFamily="18" charset="0"/>
                  </a:rPr>
                  <a:t>Pure GAT</a:t>
                </a:r>
                <a:r>
                  <a:rPr lang="en-IN" sz="1850" dirty="0">
                    <a:latin typeface="Times New Roman" panose="02020603050405020304" pitchFamily="18" charset="0"/>
                    <a:cs typeface="Times New Roman" panose="02020603050405020304" pitchFamily="18" charset="0"/>
                  </a:rPr>
                  <a:t> baselines.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Physics-Guided Loss Formulation:</a:t>
                </a:r>
                <a:r>
                  <a:rPr lang="en-IN" sz="1850" dirty="0">
                    <a:latin typeface="Times New Roman" panose="02020603050405020304" pitchFamily="18" charset="0"/>
                    <a:cs typeface="Times New Roman" panose="02020603050405020304" pitchFamily="18" charset="0"/>
                  </a:rPr>
                  <a:t> Train </a:t>
                </a:r>
                <a:r>
                  <a:rPr lang="en-IN" sz="1850" dirty="0" err="1">
                    <a:latin typeface="Times New Roman" panose="02020603050405020304" pitchFamily="18" charset="0"/>
                    <a:cs typeface="Times New Roman" panose="02020603050405020304" pitchFamily="18" charset="0"/>
                  </a:rPr>
                  <a:t>Phy</a:t>
                </a:r>
                <a:r>
                  <a:rPr lang="en-IN" sz="1850" dirty="0">
                    <a:latin typeface="Times New Roman" panose="02020603050405020304" pitchFamily="18" charset="0"/>
                    <a:cs typeface="Times New Roman" panose="02020603050405020304" pitchFamily="18" charset="0"/>
                  </a:rPr>
                  <a:t>-DSTGNN with hydraulic gradient constraints and asymmetric peak flood penalties.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Explainability &amp; Uncertainty:</a:t>
                </a:r>
                <a:r>
                  <a:rPr lang="en-IN" sz="1850" dirty="0">
                    <a:latin typeface="Times New Roman" panose="02020603050405020304" pitchFamily="18" charset="0"/>
                    <a:cs typeface="Times New Roman" panose="02020603050405020304" pitchFamily="18" charset="0"/>
                  </a:rPr>
                  <a:t> Apply Integrated Gradients (XAI) and Monte Carlo Dropout for predictive confidence bounds.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Comprehensive Benchmarking:</a:t>
                </a:r>
                <a:r>
                  <a:rPr lang="en-IN" sz="1850" dirty="0">
                    <a:latin typeface="Times New Roman" panose="02020603050405020304" pitchFamily="18" charset="0"/>
                    <a:cs typeface="Times New Roman" panose="02020603050405020304" pitchFamily="18" charset="0"/>
                  </a:rPr>
                  <a:t> Compare all 4 models across NSE, peak flood error, ROC-AUC, and spatial cluster RMSE.</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Decision Support System:</a:t>
                </a:r>
                <a:r>
                  <a:rPr lang="en-IN" sz="1850" dirty="0">
                    <a:latin typeface="Times New Roman" panose="02020603050405020304" pitchFamily="18" charset="0"/>
                    <a:cs typeface="Times New Roman" panose="02020603050405020304" pitchFamily="18" charset="0"/>
                  </a:rPr>
                  <a:t> Deploy an interactive GIS dashboard with automated GHMC flood risk mitigation protocols.</a:t>
                </a:r>
              </a:p>
              <a:p>
                <a:pPr marL="285750" lvl="0" indent="-285750">
                  <a:buFont typeface="Arial" panose="020B0604020202020204" pitchFamily="34" charset="0"/>
                  <a:buChar char="•"/>
                </a:pPr>
                <a:r>
                  <a:rPr lang="en-IN" sz="1850" b="1" dirty="0">
                    <a:latin typeface="Times New Roman" panose="02020603050405020304" pitchFamily="18" charset="0"/>
                    <a:cs typeface="Times New Roman" panose="02020603050405020304" pitchFamily="18" charset="0"/>
                  </a:rPr>
                  <a:t>Output Generation:</a:t>
                </a:r>
                <a:r>
                  <a:rPr lang="en-IN" sz="1850" dirty="0">
                    <a:latin typeface="Times New Roman" panose="02020603050405020304" pitchFamily="18" charset="0"/>
                    <a:cs typeface="Times New Roman" panose="02020603050405020304" pitchFamily="18" charset="0"/>
                  </a:rPr>
                  <a:t> Deliver multi-step depth predictions, surcharge alerts, spatial risk heatmaps, and pump advisories.</a:t>
                </a:r>
              </a:p>
              <a:p>
                <a:pPr marL="285750" indent="-285750">
                  <a:buFont typeface="Arial" panose="020B0604020202020204" pitchFamily="34" charset="0"/>
                  <a:buChar char="•"/>
                </a:pPr>
                <a:endParaRPr lang="en-IN" sz="1850" dirty="0">
                  <a:latin typeface="Times New Roman" panose="02020603050405020304" pitchFamily="18"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235999DE-CFAB-43EF-B7B2-4E68658F3D9A}"/>
                  </a:ext>
                </a:extLst>
              </p:cNvPr>
              <p:cNvSpPr txBox="1">
                <a:spLocks noRot="1" noChangeAspect="1" noMove="1" noResize="1" noEditPoints="1" noAdjustHandles="1" noChangeArrowheads="1" noChangeShapeType="1" noTextEdit="1"/>
              </p:cNvSpPr>
              <p:nvPr/>
            </p:nvSpPr>
            <p:spPr>
              <a:xfrm>
                <a:off x="271789" y="917912"/>
                <a:ext cx="11648422" cy="5501506"/>
              </a:xfrm>
              <a:prstGeom prst="rect">
                <a:avLst/>
              </a:prstGeom>
              <a:blipFill>
                <a:blip r:embed="rId2"/>
                <a:stretch>
                  <a:fillRect l="-366" t="-665" r="-995"/>
                </a:stretch>
              </a:blipFill>
            </p:spPr>
            <p:txBody>
              <a:bodyPr/>
              <a:lstStyle/>
              <a:p>
                <a:r>
                  <a:rPr lang="en-IN">
                    <a:noFill/>
                  </a:rPr>
                  <a:t> </a:t>
                </a:r>
              </a:p>
            </p:txBody>
          </p:sp>
        </mc:Fallback>
      </mc:AlternateContent>
    </p:spTree>
    <p:extLst>
      <p:ext uri="{BB962C8B-B14F-4D97-AF65-F5344CB8AC3E}">
        <p14:creationId xmlns:p14="http://schemas.microsoft.com/office/powerpoint/2010/main" val="3944972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Proposed Model Algorithm/Diagram</a:t>
            </a:r>
          </a:p>
        </p:txBody>
      </p:sp>
      <p:sp>
        <p:nvSpPr>
          <p:cNvPr id="22531"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22532"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1269" name="Slide Number Placeholder 5"/>
          <p:cNvSpPr>
            <a:spLocks noGrp="1"/>
          </p:cNvSpPr>
          <p:nvPr>
            <p:ph type="sldNum" sz="quarter" idx="12"/>
          </p:nvPr>
        </p:nvSpPr>
        <p:spPr bwMode="auto">
          <a:noFill/>
          <a:ln>
            <a:miter lim="800000"/>
            <a:headEnd/>
            <a:tailEnd/>
          </a:ln>
        </p:spPr>
        <p:txBody>
          <a:bodyPr/>
          <a:lstStyle/>
          <a:p>
            <a:fld id="{71441D0A-5B63-4E86-A569-E22565FC2C4D}" type="slidenum">
              <a:rPr lang="en-US" altLang="en-US"/>
              <a:pPr/>
              <a:t>12</a:t>
            </a:fld>
            <a:endParaRPr lang="en-US" altLang="en-US"/>
          </a:p>
        </p:txBody>
      </p:sp>
      <p:pic>
        <p:nvPicPr>
          <p:cNvPr id="2" name="Picture 1">
            <a:extLst>
              <a:ext uri="{FF2B5EF4-FFF2-40B4-BE49-F238E27FC236}">
                <a16:creationId xmlns:a16="http://schemas.microsoft.com/office/drawing/2014/main" id="{A22D5245-ECD0-88E8-CBCB-E8645D436BF4}"/>
              </a:ext>
            </a:extLst>
          </p:cNvPr>
          <p:cNvPicPr>
            <a:picLocks noChangeAspect="1"/>
          </p:cNvPicPr>
          <p:nvPr/>
        </p:nvPicPr>
        <p:blipFill>
          <a:blip r:embed="rId2"/>
          <a:stretch>
            <a:fillRect/>
          </a:stretch>
        </p:blipFill>
        <p:spPr>
          <a:xfrm>
            <a:off x="1755911" y="1032007"/>
            <a:ext cx="8680177" cy="5242560"/>
          </a:xfrm>
          <a:prstGeom prst="rect">
            <a:avLst/>
          </a:prstGeom>
        </p:spPr>
      </p:pic>
    </p:spTree>
    <p:extLst>
      <p:ext uri="{BB962C8B-B14F-4D97-AF65-F5344CB8AC3E}">
        <p14:creationId xmlns:p14="http://schemas.microsoft.com/office/powerpoint/2010/main" val="19882201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altLang="en-US" dirty="0">
                <a:latin typeface="Cambria" pitchFamily="18" charset="0"/>
                <a:ea typeface="Cambria" pitchFamily="18" charset="0"/>
                <a:cs typeface="Cambria" pitchFamily="18" charset="0"/>
              </a:rPr>
              <a:t>System Architecture</a:t>
            </a:r>
          </a:p>
        </p:txBody>
      </p:sp>
      <p:sp>
        <p:nvSpPr>
          <p:cNvPr id="15363"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5364"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9221" name="Slide Number Placeholder 5"/>
          <p:cNvSpPr>
            <a:spLocks noGrp="1"/>
          </p:cNvSpPr>
          <p:nvPr>
            <p:ph type="sldNum" sz="quarter" idx="12"/>
          </p:nvPr>
        </p:nvSpPr>
        <p:spPr bwMode="auto">
          <a:noFill/>
          <a:ln>
            <a:miter lim="800000"/>
            <a:headEnd/>
            <a:tailEnd/>
          </a:ln>
        </p:spPr>
        <p:txBody>
          <a:bodyPr/>
          <a:lstStyle/>
          <a:p>
            <a:fld id="{9BA95D20-3DD7-486C-BDED-39A628F8F61B}" type="slidenum">
              <a:rPr lang="en-US" altLang="en-US"/>
              <a:pPr/>
              <a:t>13</a:t>
            </a:fld>
            <a:endParaRPr lang="en-US" altLang="en-US"/>
          </a:p>
        </p:txBody>
      </p:sp>
      <p:pic>
        <p:nvPicPr>
          <p:cNvPr id="15365" name="Picture 15364" descr="Phy_DSTGNN_System_Architecture_Final.png"/>
          <p:cNvPicPr>
            <a:picLocks noChangeAspect="1"/>
          </p:cNvPicPr>
          <p:nvPr/>
        </p:nvPicPr>
        <p:blipFill>
          <a:blip r:embed="rId4"/>
          <a:stretch>
            <a:fillRect/>
          </a:stretch>
        </p:blipFill>
        <p:spPr>
          <a:xfrm>
            <a:off x="242977" y="947588"/>
            <a:ext cx="11706045" cy="531518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UML DIAGRAMS</a:t>
            </a:r>
          </a:p>
        </p:txBody>
      </p:sp>
      <p:sp>
        <p:nvSpPr>
          <p:cNvPr id="18435"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8436"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0245" name="Slide Number Placeholder 5"/>
          <p:cNvSpPr>
            <a:spLocks noGrp="1"/>
          </p:cNvSpPr>
          <p:nvPr>
            <p:ph type="sldNum" sz="quarter" idx="12"/>
          </p:nvPr>
        </p:nvSpPr>
        <p:spPr bwMode="auto">
          <a:noFill/>
          <a:ln>
            <a:miter lim="800000"/>
            <a:headEnd/>
            <a:tailEnd/>
          </a:ln>
        </p:spPr>
        <p:txBody>
          <a:bodyPr/>
          <a:lstStyle/>
          <a:p>
            <a:fld id="{12B54055-D293-41A4-A00A-384E787F4E19}" type="slidenum">
              <a:rPr lang="en-US" altLang="en-US"/>
              <a:pPr/>
              <a:t>14</a:t>
            </a:fld>
            <a:endParaRPr lang="en-US" altLang="en-US"/>
          </a:p>
        </p:txBody>
      </p:sp>
      <p:pic>
        <p:nvPicPr>
          <p:cNvPr id="6" name="Picture 5">
            <a:extLst>
              <a:ext uri="{FF2B5EF4-FFF2-40B4-BE49-F238E27FC236}">
                <a16:creationId xmlns:a16="http://schemas.microsoft.com/office/drawing/2014/main" id="{3C9219FA-598B-BC14-016F-85E2F263022B}"/>
              </a:ext>
            </a:extLst>
          </p:cNvPr>
          <p:cNvPicPr>
            <a:picLocks noChangeAspect="1"/>
          </p:cNvPicPr>
          <p:nvPr/>
        </p:nvPicPr>
        <p:blipFill>
          <a:blip r:embed="rId2">
            <a:extLst>
              <a:ext uri="{28A0092B-C50C-407E-A947-70E740481C1C}">
                <a14:useLocalDpi xmlns:a14="http://schemas.microsoft.com/office/drawing/2010/main" val="0"/>
              </a:ext>
            </a:extLst>
          </a:blip>
          <a:srcRect l="-259" t="11779" r="6155" b="4720"/>
          <a:stretch>
            <a:fillRect/>
          </a:stretch>
        </p:blipFill>
        <p:spPr>
          <a:xfrm>
            <a:off x="215660" y="983590"/>
            <a:ext cx="11473132" cy="528781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FA09B-5296-2F50-1AD8-1F7F4038646B}"/>
            </a:ext>
          </a:extLst>
        </p:cNvPr>
        <p:cNvGrpSpPr/>
        <p:nvPr/>
      </p:nvGrpSpPr>
      <p:grpSpPr>
        <a:xfrm>
          <a:off x="0" y="0"/>
          <a:ext cx="0" cy="0"/>
          <a:chOff x="0" y="0"/>
          <a:chExt cx="0" cy="0"/>
        </a:xfrm>
      </p:grpSpPr>
      <p:sp>
        <p:nvSpPr>
          <p:cNvPr id="10242" name="Title 1">
            <a:extLst>
              <a:ext uri="{FF2B5EF4-FFF2-40B4-BE49-F238E27FC236}">
                <a16:creationId xmlns:a16="http://schemas.microsoft.com/office/drawing/2014/main" id="{3C068DDB-C0B8-C513-28F6-DF3B9C3C02EF}"/>
              </a:ext>
            </a:extLst>
          </p:cNvPr>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UML DIAGRAMS</a:t>
            </a:r>
          </a:p>
        </p:txBody>
      </p:sp>
      <p:sp>
        <p:nvSpPr>
          <p:cNvPr id="18435" name="Date Placeholder 3">
            <a:extLst>
              <a:ext uri="{FF2B5EF4-FFF2-40B4-BE49-F238E27FC236}">
                <a16:creationId xmlns:a16="http://schemas.microsoft.com/office/drawing/2014/main" id="{B79C3FFE-0BDB-D4A1-8557-4E22A58A9B9B}"/>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18436" name="Footer Placeholder 4">
            <a:extLst>
              <a:ext uri="{FF2B5EF4-FFF2-40B4-BE49-F238E27FC236}">
                <a16:creationId xmlns:a16="http://schemas.microsoft.com/office/drawing/2014/main" id="{D63B8081-7D60-AEC5-D55F-D73950036C58}"/>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0245" name="Slide Number Placeholder 5">
            <a:extLst>
              <a:ext uri="{FF2B5EF4-FFF2-40B4-BE49-F238E27FC236}">
                <a16:creationId xmlns:a16="http://schemas.microsoft.com/office/drawing/2014/main" id="{2E225ABE-247B-5889-6B2B-1466DE8200C2}"/>
              </a:ext>
            </a:extLst>
          </p:cNvPr>
          <p:cNvSpPr>
            <a:spLocks noGrp="1"/>
          </p:cNvSpPr>
          <p:nvPr>
            <p:ph type="sldNum" sz="quarter" idx="12"/>
          </p:nvPr>
        </p:nvSpPr>
        <p:spPr bwMode="auto">
          <a:noFill/>
          <a:ln>
            <a:miter lim="800000"/>
            <a:headEnd/>
            <a:tailEnd/>
          </a:ln>
        </p:spPr>
        <p:txBody>
          <a:bodyPr/>
          <a:lstStyle/>
          <a:p>
            <a:fld id="{12B54055-D293-41A4-A00A-384E787F4E19}" type="slidenum">
              <a:rPr lang="en-US" altLang="en-US"/>
              <a:pPr/>
              <a:t>15</a:t>
            </a:fld>
            <a:endParaRPr lang="en-US" altLang="en-US"/>
          </a:p>
        </p:txBody>
      </p:sp>
      <p:pic>
        <p:nvPicPr>
          <p:cNvPr id="8" name="Picture 7">
            <a:extLst>
              <a:ext uri="{FF2B5EF4-FFF2-40B4-BE49-F238E27FC236}">
                <a16:creationId xmlns:a16="http://schemas.microsoft.com/office/drawing/2014/main" id="{7FACE9FD-4F40-77FB-60D4-9ABF16F7189C}"/>
              </a:ext>
            </a:extLst>
          </p:cNvPr>
          <p:cNvPicPr>
            <a:picLocks noChangeAspect="1"/>
          </p:cNvPicPr>
          <p:nvPr/>
        </p:nvPicPr>
        <p:blipFill>
          <a:blip r:embed="rId2">
            <a:extLst>
              <a:ext uri="{28A0092B-C50C-407E-A947-70E740481C1C}">
                <a14:useLocalDpi xmlns:a14="http://schemas.microsoft.com/office/drawing/2010/main" val="0"/>
              </a:ext>
            </a:extLst>
          </a:blip>
          <a:srcRect l="2687" t="1813" r="2359" b="3350"/>
          <a:stretch>
            <a:fillRect/>
          </a:stretch>
        </p:blipFill>
        <p:spPr>
          <a:xfrm>
            <a:off x="307675" y="983411"/>
            <a:ext cx="11576649" cy="5287993"/>
          </a:xfrm>
          <a:prstGeom prst="rect">
            <a:avLst/>
          </a:prstGeom>
        </p:spPr>
      </p:pic>
    </p:spTree>
    <p:extLst>
      <p:ext uri="{BB962C8B-B14F-4D97-AF65-F5344CB8AC3E}">
        <p14:creationId xmlns:p14="http://schemas.microsoft.com/office/powerpoint/2010/main" val="2017826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UML DIAGRAMS</a:t>
            </a:r>
          </a:p>
        </p:txBody>
      </p:sp>
      <p:sp>
        <p:nvSpPr>
          <p:cNvPr id="22531"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22532"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1269" name="Slide Number Placeholder 5"/>
          <p:cNvSpPr>
            <a:spLocks noGrp="1"/>
          </p:cNvSpPr>
          <p:nvPr>
            <p:ph type="sldNum" sz="quarter" idx="12"/>
          </p:nvPr>
        </p:nvSpPr>
        <p:spPr bwMode="auto">
          <a:noFill/>
          <a:ln>
            <a:miter lim="800000"/>
            <a:headEnd/>
            <a:tailEnd/>
          </a:ln>
        </p:spPr>
        <p:txBody>
          <a:bodyPr/>
          <a:lstStyle/>
          <a:p>
            <a:fld id="{71441D0A-5B63-4E86-A569-E22565FC2C4D}" type="slidenum">
              <a:rPr lang="en-US" altLang="en-US"/>
              <a:pPr/>
              <a:t>16</a:t>
            </a:fld>
            <a:endParaRPr lang="en-US" altLang="en-US"/>
          </a:p>
        </p:txBody>
      </p:sp>
      <p:pic>
        <p:nvPicPr>
          <p:cNvPr id="8" name="Picture 7">
            <a:extLst>
              <a:ext uri="{FF2B5EF4-FFF2-40B4-BE49-F238E27FC236}">
                <a16:creationId xmlns:a16="http://schemas.microsoft.com/office/drawing/2014/main" id="{86C83C56-349F-2CEF-E28F-DC73C8D6FF48}"/>
              </a:ext>
            </a:extLst>
          </p:cNvPr>
          <p:cNvPicPr>
            <a:picLocks noChangeAspect="1"/>
          </p:cNvPicPr>
          <p:nvPr/>
        </p:nvPicPr>
        <p:blipFill>
          <a:blip r:embed="rId2">
            <a:extLst>
              <a:ext uri="{28A0092B-C50C-407E-A947-70E740481C1C}">
                <a14:useLocalDpi xmlns:a14="http://schemas.microsoft.com/office/drawing/2010/main" val="0"/>
              </a:ext>
            </a:extLst>
          </a:blip>
          <a:srcRect l="1485" t="2914" r="2288" b="6948"/>
          <a:stretch>
            <a:fillRect/>
          </a:stretch>
        </p:blipFill>
        <p:spPr>
          <a:xfrm>
            <a:off x="197493" y="1181818"/>
            <a:ext cx="11731925" cy="5011948"/>
          </a:xfrm>
          <a:prstGeom prst="rect">
            <a:avLst/>
          </a:prstGeom>
        </p:spPr>
      </p:pic>
    </p:spTree>
    <p:extLst>
      <p:ext uri="{BB962C8B-B14F-4D97-AF65-F5344CB8AC3E}">
        <p14:creationId xmlns:p14="http://schemas.microsoft.com/office/powerpoint/2010/main" val="1544580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C1294-BD5A-F08A-26E0-E64830F14E63}"/>
            </a:ext>
          </a:extLst>
        </p:cNvPr>
        <p:cNvGrpSpPr/>
        <p:nvPr/>
      </p:nvGrpSpPr>
      <p:grpSpPr>
        <a:xfrm>
          <a:off x="0" y="0"/>
          <a:ext cx="0" cy="0"/>
          <a:chOff x="0" y="0"/>
          <a:chExt cx="0" cy="0"/>
        </a:xfrm>
      </p:grpSpPr>
      <p:sp>
        <p:nvSpPr>
          <p:cNvPr id="11266" name="Title 1">
            <a:extLst>
              <a:ext uri="{FF2B5EF4-FFF2-40B4-BE49-F238E27FC236}">
                <a16:creationId xmlns:a16="http://schemas.microsoft.com/office/drawing/2014/main" id="{D19AC4D8-D2FF-6DA2-E41D-854E049F5781}"/>
              </a:ext>
            </a:extLst>
          </p:cNvPr>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Functional Requirements </a:t>
            </a:r>
          </a:p>
        </p:txBody>
      </p:sp>
      <p:sp>
        <p:nvSpPr>
          <p:cNvPr id="22531" name="Date Placeholder 3">
            <a:extLst>
              <a:ext uri="{FF2B5EF4-FFF2-40B4-BE49-F238E27FC236}">
                <a16:creationId xmlns:a16="http://schemas.microsoft.com/office/drawing/2014/main" id="{E140AA75-E493-6A87-A8BA-4E1D15C2F011}"/>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22532" name="Footer Placeholder 4">
            <a:extLst>
              <a:ext uri="{FF2B5EF4-FFF2-40B4-BE49-F238E27FC236}">
                <a16:creationId xmlns:a16="http://schemas.microsoft.com/office/drawing/2014/main" id="{0BDA972F-7BB6-1A57-A893-7846A0CE0015}"/>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1269" name="Slide Number Placeholder 5">
            <a:extLst>
              <a:ext uri="{FF2B5EF4-FFF2-40B4-BE49-F238E27FC236}">
                <a16:creationId xmlns:a16="http://schemas.microsoft.com/office/drawing/2014/main" id="{5093477C-CE8F-F784-4587-928F4D50D60E}"/>
              </a:ext>
            </a:extLst>
          </p:cNvPr>
          <p:cNvSpPr>
            <a:spLocks noGrp="1"/>
          </p:cNvSpPr>
          <p:nvPr>
            <p:ph type="sldNum" sz="quarter" idx="12"/>
          </p:nvPr>
        </p:nvSpPr>
        <p:spPr bwMode="auto">
          <a:noFill/>
          <a:ln>
            <a:miter lim="800000"/>
            <a:headEnd/>
            <a:tailEnd/>
          </a:ln>
        </p:spPr>
        <p:txBody>
          <a:bodyPr/>
          <a:lstStyle/>
          <a:p>
            <a:fld id="{71441D0A-5B63-4E86-A569-E22565FC2C4D}" type="slidenum">
              <a:rPr lang="en-US" altLang="en-US"/>
              <a:pPr/>
              <a:t>17</a:t>
            </a:fld>
            <a:endParaRPr lang="en-US" altLang="en-US"/>
          </a:p>
        </p:txBody>
      </p:sp>
      <p:sp>
        <p:nvSpPr>
          <p:cNvPr id="3" name="TextBox 2">
            <a:extLst>
              <a:ext uri="{FF2B5EF4-FFF2-40B4-BE49-F238E27FC236}">
                <a16:creationId xmlns:a16="http://schemas.microsoft.com/office/drawing/2014/main" id="{B813D625-CBBD-96B5-B22A-F5387E1F985D}"/>
              </a:ext>
            </a:extLst>
          </p:cNvPr>
          <p:cNvSpPr txBox="1"/>
          <p:nvPr/>
        </p:nvSpPr>
        <p:spPr>
          <a:xfrm>
            <a:off x="423772" y="1001038"/>
            <a:ext cx="11344455" cy="5355312"/>
          </a:xfrm>
          <a:prstGeom prst="rect">
            <a:avLst/>
          </a:prstGeom>
          <a:noFill/>
        </p:spPr>
        <p:txBody>
          <a:bodyPr wrap="square">
            <a:spAutoFit/>
          </a:bodyPr>
          <a:lstStyle/>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Graph Construction:</a:t>
            </a:r>
            <a:r>
              <a:rPr lang="en-IN" dirty="0">
                <a:latin typeface="Times New Roman" panose="02020603050405020304" pitchFamily="18" charset="0"/>
                <a:cs typeface="Times New Roman" panose="02020603050405020304" pitchFamily="18" charset="0"/>
              </a:rPr>
              <a:t> Converts GHMC drainage network into directed graph — 72 nodes, 66 edges.</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 Generation:</a:t>
            </a:r>
            <a:r>
              <a:rPr lang="en-IN" dirty="0">
                <a:latin typeface="Times New Roman" panose="02020603050405020304" pitchFamily="18" charset="0"/>
                <a:cs typeface="Times New Roman" panose="02020603050405020304" pitchFamily="18" charset="0"/>
              </a:rPr>
              <a:t> Generates 15-year flood dataset (1,40,256 records) using EPA-SWMM simulation.</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Rainfall Ingestion:</a:t>
            </a:r>
            <a:r>
              <a:rPr lang="en-IN" dirty="0">
                <a:latin typeface="Times New Roman" panose="02020603050405020304" pitchFamily="18" charset="0"/>
                <a:cs typeface="Times New Roman" panose="02020603050405020304" pitchFamily="18" charset="0"/>
              </a:rPr>
              <a:t> Ingests hourly precipitation, temperature, humidity as node-level input features.</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Physics-Guided AI:</a:t>
            </a:r>
            <a:r>
              <a:rPr lang="en-IN" dirty="0">
                <a:latin typeface="Times New Roman" panose="02020603050405020304" pitchFamily="18" charset="0"/>
                <a:cs typeface="Times New Roman" panose="02020603050405020304" pitchFamily="18" charset="0"/>
              </a:rPr>
              <a:t> GATv2 + TCN with mass conservation and Manning's equation in loss function.</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Flood Forecasting:</a:t>
            </a:r>
            <a:r>
              <a:rPr lang="en-IN" dirty="0">
                <a:latin typeface="Times New Roman" panose="02020603050405020304" pitchFamily="18" charset="0"/>
                <a:cs typeface="Times New Roman" panose="02020603050405020304" pitchFamily="18" charset="0"/>
              </a:rPr>
              <a:t> Predicts water depth and overflow probability at 5, 15, 30, 60, 120 min horizons.</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Explainable AI:</a:t>
            </a:r>
            <a:r>
              <a:rPr lang="en-IN" dirty="0">
                <a:latin typeface="Times New Roman" panose="02020603050405020304" pitchFamily="18" charset="0"/>
                <a:cs typeface="Times New Roman" panose="02020603050405020304" pitchFamily="18" charset="0"/>
              </a:rPr>
              <a:t> Integrated Gradients identifies water depth (37.3%) as dominant prediction feature.</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Uncertainty Quantification:</a:t>
            </a:r>
            <a:r>
              <a:rPr lang="en-IN" dirty="0">
                <a:latin typeface="Times New Roman" panose="02020603050405020304" pitchFamily="18" charset="0"/>
                <a:cs typeface="Times New Roman" panose="02020603050405020304" pitchFamily="18" charset="0"/>
              </a:rPr>
              <a:t> Monte Carlo Dropout gives 95% confidence interval per forecast.</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Alert Generation:</a:t>
            </a:r>
            <a:r>
              <a:rPr lang="en-IN" dirty="0">
                <a:latin typeface="Times New Roman" panose="02020603050405020304" pitchFamily="18" charset="0"/>
                <a:cs typeface="Times New Roman" panose="02020603050405020304" pitchFamily="18" charset="0"/>
              </a:rPr>
              <a:t> Automated flood alerts triggered — classified as HIGH, MEDIUM, or LOW risk.</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Geospatial Dashboard:</a:t>
            </a:r>
            <a:r>
              <a:rPr lang="en-IN" dirty="0">
                <a:latin typeface="Times New Roman" panose="02020603050405020304" pitchFamily="18" charset="0"/>
                <a:cs typeface="Times New Roman" panose="02020603050405020304" pitchFamily="18" charset="0"/>
              </a:rPr>
              <a:t> Live inundation heatmap across 6 Hyderabad zones on Folium map.</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Scenario Simulation:</a:t>
            </a:r>
            <a:r>
              <a:rPr lang="en-IN" dirty="0">
                <a:latin typeface="Times New Roman" panose="02020603050405020304" pitchFamily="18" charset="0"/>
                <a:cs typeface="Times New Roman" panose="02020603050405020304" pitchFamily="18" charset="0"/>
              </a:rPr>
              <a:t> Tests extreme storms using Chicago Design Storm profiles (2yr to 100yr).</a:t>
            </a:r>
          </a:p>
        </p:txBody>
      </p:sp>
    </p:spTree>
    <p:extLst>
      <p:ext uri="{BB962C8B-B14F-4D97-AF65-F5344CB8AC3E}">
        <p14:creationId xmlns:p14="http://schemas.microsoft.com/office/powerpoint/2010/main" val="16289022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4C686-9F9E-AF57-AFC3-6430577A2CCC}"/>
            </a:ext>
          </a:extLst>
        </p:cNvPr>
        <p:cNvGrpSpPr/>
        <p:nvPr/>
      </p:nvGrpSpPr>
      <p:grpSpPr>
        <a:xfrm>
          <a:off x="0" y="0"/>
          <a:ext cx="0" cy="0"/>
          <a:chOff x="0" y="0"/>
          <a:chExt cx="0" cy="0"/>
        </a:xfrm>
      </p:grpSpPr>
      <p:sp>
        <p:nvSpPr>
          <p:cNvPr id="11266" name="Title 1">
            <a:extLst>
              <a:ext uri="{FF2B5EF4-FFF2-40B4-BE49-F238E27FC236}">
                <a16:creationId xmlns:a16="http://schemas.microsoft.com/office/drawing/2014/main" id="{E30B23DE-CC8E-9AB5-5CA5-D6F2E7CA452E}"/>
              </a:ext>
            </a:extLst>
          </p:cNvPr>
          <p:cNvSpPr>
            <a:spLocks noGrp="1"/>
          </p:cNvSpPr>
          <p:nvPr>
            <p:ph type="title"/>
          </p:nvPr>
        </p:nvSpPr>
        <p:spPr>
          <a:xfrm>
            <a:off x="1128713" y="138113"/>
            <a:ext cx="9869487" cy="595312"/>
          </a:xfrm>
        </p:spPr>
        <p:txBody>
          <a:bodyPr/>
          <a:lstStyle/>
          <a:p>
            <a:pPr eaLnBrk="1" hangingPunct="1"/>
            <a:r>
              <a:rPr lang="en-US" altLang="en-US" sz="2600" dirty="0">
                <a:latin typeface="Cambria" pitchFamily="18" charset="0"/>
                <a:ea typeface="Cambria" pitchFamily="18" charset="0"/>
                <a:cs typeface="Cambria" pitchFamily="18" charset="0"/>
              </a:rPr>
              <a:t>Non - Functional Requirements </a:t>
            </a:r>
          </a:p>
        </p:txBody>
      </p:sp>
      <p:sp>
        <p:nvSpPr>
          <p:cNvPr id="22531" name="Date Placeholder 3">
            <a:extLst>
              <a:ext uri="{FF2B5EF4-FFF2-40B4-BE49-F238E27FC236}">
                <a16:creationId xmlns:a16="http://schemas.microsoft.com/office/drawing/2014/main" id="{349889EE-BD02-DE35-59A7-FC342997250E}"/>
              </a:ext>
            </a:extLst>
          </p:cNvPr>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22532" name="Footer Placeholder 4">
            <a:extLst>
              <a:ext uri="{FF2B5EF4-FFF2-40B4-BE49-F238E27FC236}">
                <a16:creationId xmlns:a16="http://schemas.microsoft.com/office/drawing/2014/main" id="{4D620D1A-71DE-0228-8B80-B36391D412CA}"/>
              </a:ext>
            </a:extLst>
          </p:cNvPr>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1269" name="Slide Number Placeholder 5">
            <a:extLst>
              <a:ext uri="{FF2B5EF4-FFF2-40B4-BE49-F238E27FC236}">
                <a16:creationId xmlns:a16="http://schemas.microsoft.com/office/drawing/2014/main" id="{6C5E366D-9990-A517-C513-32D017E9F21C}"/>
              </a:ext>
            </a:extLst>
          </p:cNvPr>
          <p:cNvSpPr>
            <a:spLocks noGrp="1"/>
          </p:cNvSpPr>
          <p:nvPr>
            <p:ph type="sldNum" sz="quarter" idx="12"/>
          </p:nvPr>
        </p:nvSpPr>
        <p:spPr bwMode="auto">
          <a:noFill/>
          <a:ln>
            <a:miter lim="800000"/>
            <a:headEnd/>
            <a:tailEnd/>
          </a:ln>
        </p:spPr>
        <p:txBody>
          <a:bodyPr/>
          <a:lstStyle/>
          <a:p>
            <a:fld id="{71441D0A-5B63-4E86-A569-E22565FC2C4D}" type="slidenum">
              <a:rPr lang="en-US" altLang="en-US"/>
              <a:pPr/>
              <a:t>18</a:t>
            </a:fld>
            <a:endParaRPr lang="en-US" altLang="en-US"/>
          </a:p>
        </p:txBody>
      </p:sp>
      <p:sp>
        <p:nvSpPr>
          <p:cNvPr id="3" name="TextBox 2">
            <a:extLst>
              <a:ext uri="{FF2B5EF4-FFF2-40B4-BE49-F238E27FC236}">
                <a16:creationId xmlns:a16="http://schemas.microsoft.com/office/drawing/2014/main" id="{A844771A-A19D-9479-121D-DADFAE301569}"/>
              </a:ext>
            </a:extLst>
          </p:cNvPr>
          <p:cNvSpPr txBox="1"/>
          <p:nvPr/>
        </p:nvSpPr>
        <p:spPr>
          <a:xfrm>
            <a:off x="423772" y="1001038"/>
            <a:ext cx="11344455" cy="3693319"/>
          </a:xfrm>
          <a:prstGeom prst="rect">
            <a:avLst/>
          </a:prstGeom>
          <a:noFill/>
        </p:spPr>
        <p:txBody>
          <a:bodyPr wrap="square">
            <a:spAutoFit/>
          </a:bodyPr>
          <a:lstStyle/>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Performance:</a:t>
            </a:r>
            <a:r>
              <a:rPr lang="en-IN" dirty="0">
                <a:latin typeface="Times New Roman" panose="02020603050405020304" pitchFamily="18" charset="0"/>
                <a:cs typeface="Times New Roman" panose="02020603050405020304" pitchFamily="18" charset="0"/>
              </a:rPr>
              <a:t> Predictions across all 72 manholes in under 500 </a:t>
            </a:r>
            <a:r>
              <a:rPr lang="en-IN">
                <a:latin typeface="Times New Roman" panose="02020603050405020304" pitchFamily="18" charset="0"/>
                <a:cs typeface="Times New Roman" panose="02020603050405020304" pitchFamily="18" charset="0"/>
              </a:rPr>
              <a:t>milliseconds.</a:t>
            </a:r>
          </a:p>
          <a:p>
            <a:pPr lvl="0"/>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Reliability:</a:t>
            </a:r>
            <a:r>
              <a:rPr lang="en-IN" dirty="0">
                <a:latin typeface="Times New Roman" panose="02020603050405020304" pitchFamily="18" charset="0"/>
                <a:cs typeface="Times New Roman" panose="02020603050405020304" pitchFamily="18" charset="0"/>
              </a:rPr>
              <a:t> Focal Loss handles severe class imbalance - overflow = only 0.83% of data.</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Scalability:</a:t>
            </a:r>
            <a:r>
              <a:rPr lang="en-IN" dirty="0">
                <a:latin typeface="Times New Roman" panose="02020603050405020304" pitchFamily="18" charset="0"/>
                <a:cs typeface="Times New Roman" panose="02020603050405020304" pitchFamily="18" charset="0"/>
              </a:rPr>
              <a:t> Graph architecture extends to new zones without full retraining.</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Explainability:</a:t>
            </a:r>
            <a:r>
              <a:rPr lang="en-IN" dirty="0">
                <a:latin typeface="Times New Roman" panose="02020603050405020304" pitchFamily="18" charset="0"/>
                <a:cs typeface="Times New Roman" panose="02020603050405020304" pitchFamily="18" charset="0"/>
              </a:rPr>
              <a:t> Integrated Gradients + Monte Carlo Dropout - no black-box outputs.</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Physical Consistency:</a:t>
            </a:r>
            <a:r>
              <a:rPr lang="en-IN" dirty="0">
                <a:latin typeface="Times New Roman" panose="02020603050405020304" pitchFamily="18" charset="0"/>
                <a:cs typeface="Times New Roman" panose="02020603050405020304" pitchFamily="18" charset="0"/>
              </a:rPr>
              <a:t> Physics loss prevents hydraulically impossible predictions.</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Data Integrity:</a:t>
            </a:r>
            <a:r>
              <a:rPr lang="en-IN" dirty="0">
                <a:latin typeface="Times New Roman" panose="02020603050405020304" pitchFamily="18" charset="0"/>
                <a:cs typeface="Times New Roman" panose="02020603050405020304" pitchFamily="18" charset="0"/>
              </a:rPr>
              <a:t> Antecedent rainfall features validated and normalized during preprocessing.</a:t>
            </a:r>
          </a:p>
          <a:p>
            <a:pPr marL="285750" lvl="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Maintainability:</a:t>
            </a:r>
            <a:r>
              <a:rPr lang="en-IN" dirty="0">
                <a:latin typeface="Times New Roman" panose="02020603050405020304" pitchFamily="18" charset="0"/>
                <a:cs typeface="Times New Roman" panose="02020603050405020304" pitchFamily="18" charset="0"/>
              </a:rPr>
              <a:t> Modular </a:t>
            </a:r>
            <a:r>
              <a:rPr lang="en-IN" dirty="0" err="1">
                <a:latin typeface="Times New Roman" panose="02020603050405020304" pitchFamily="18" charset="0"/>
                <a:cs typeface="Times New Roman" panose="02020603050405020304" pitchFamily="18" charset="0"/>
              </a:rPr>
              <a:t>PyTorch</a:t>
            </a:r>
            <a:r>
              <a:rPr lang="en-IN" dirty="0">
                <a:latin typeface="Times New Roman" panose="02020603050405020304" pitchFamily="18" charset="0"/>
                <a:cs typeface="Times New Roman" panose="02020603050405020304" pitchFamily="18" charset="0"/>
              </a:rPr>
              <a:t> Geometric - each layer independently updatable.</a:t>
            </a:r>
          </a:p>
        </p:txBody>
      </p:sp>
    </p:spTree>
    <p:extLst>
      <p:ext uri="{BB962C8B-B14F-4D97-AF65-F5344CB8AC3E}">
        <p14:creationId xmlns:p14="http://schemas.microsoft.com/office/powerpoint/2010/main" val="1370569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128713" y="138113"/>
            <a:ext cx="9869487" cy="595312"/>
          </a:xfrm>
        </p:spPr>
        <p:txBody>
          <a:bodyPr/>
          <a:lstStyle/>
          <a:p>
            <a:pPr eaLnBrk="1" hangingPunct="1"/>
            <a:r>
              <a:rPr lang="en-US" altLang="en-US" dirty="0">
                <a:latin typeface="Cambria" pitchFamily="18" charset="0"/>
                <a:ea typeface="Cambria" pitchFamily="18" charset="0"/>
                <a:cs typeface="Cambria" pitchFamily="18" charset="0"/>
              </a:rPr>
              <a:t> References (Min 10 Reference in chronological order)</a:t>
            </a:r>
          </a:p>
        </p:txBody>
      </p:sp>
      <p:sp>
        <p:nvSpPr>
          <p:cNvPr id="46083" name="Date Placeholder 3"/>
          <p:cNvSpPr>
            <a:spLocks noGrp="1"/>
          </p:cNvSpPr>
          <p:nvPr>
            <p:ph type="dt" sz="quarter" idx="10"/>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Date: </a:t>
            </a:r>
          </a:p>
        </p:txBody>
      </p:sp>
      <p:sp>
        <p:nvSpPr>
          <p:cNvPr id="46084"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3317" name="Slide Number Placeholder 5"/>
          <p:cNvSpPr>
            <a:spLocks noGrp="1"/>
          </p:cNvSpPr>
          <p:nvPr>
            <p:ph type="sldNum" sz="quarter" idx="12"/>
          </p:nvPr>
        </p:nvSpPr>
        <p:spPr bwMode="auto">
          <a:noFill/>
          <a:ln>
            <a:miter lim="800000"/>
            <a:headEnd/>
            <a:tailEnd/>
          </a:ln>
        </p:spPr>
        <p:txBody>
          <a:bodyPr/>
          <a:lstStyle/>
          <a:p>
            <a:fld id="{2F6DD997-5713-41AC-901E-348356D9C375}" type="slidenum">
              <a:rPr lang="en-US" altLang="en-US"/>
              <a:pPr/>
              <a:t>19</a:t>
            </a:fld>
            <a:endParaRPr lang="en-US" altLang="en-US"/>
          </a:p>
        </p:txBody>
      </p:sp>
      <p:sp>
        <p:nvSpPr>
          <p:cNvPr id="12" name="TextBox 11"/>
          <p:cNvSpPr txBox="1"/>
          <p:nvPr/>
        </p:nvSpPr>
        <p:spPr>
          <a:xfrm>
            <a:off x="341812" y="1104674"/>
            <a:ext cx="11011988" cy="4478149"/>
          </a:xfrm>
          <a:prstGeom prst="rect">
            <a:avLst/>
          </a:prstGeom>
          <a:noFill/>
        </p:spPr>
        <p:txBody>
          <a:bodyPr wrap="square" rtlCol="0">
            <a:spAutoFit/>
          </a:bodyPr>
          <a:lstStyle/>
          <a:p>
            <a:r>
              <a:rPr lang="en-IN" sz="1500" b="1" dirty="0">
                <a:latin typeface="Times New Roman" panose="02020603050405020304" pitchFamily="18" charset="0"/>
                <a:cs typeface="Times New Roman" panose="02020603050405020304" pitchFamily="18" charset="0"/>
              </a:rPr>
              <a:t>[1]</a:t>
            </a:r>
            <a:r>
              <a:rPr lang="en-IN" sz="1500" dirty="0">
                <a:latin typeface="Times New Roman" panose="02020603050405020304" pitchFamily="18" charset="0"/>
                <a:cs typeface="Times New Roman" panose="02020603050405020304" pitchFamily="18" charset="0"/>
              </a:rPr>
              <a:t> Wang S. and Xu O., "Mountain flood level forecasting in small watersheds based on recurrent neural networks and multi-dimensional data," </a:t>
            </a:r>
            <a:r>
              <a:rPr lang="en-IN" sz="1500" i="1" dirty="0">
                <a:latin typeface="Times New Roman" panose="02020603050405020304" pitchFamily="18" charset="0"/>
                <a:cs typeface="Times New Roman" panose="02020603050405020304" pitchFamily="18" charset="0"/>
              </a:rPr>
              <a:t>IEEE Access</a:t>
            </a:r>
            <a:r>
              <a:rPr lang="en-IN" sz="1500" dirty="0">
                <a:latin typeface="Times New Roman" panose="02020603050405020304" pitchFamily="18" charset="0"/>
                <a:cs typeface="Times New Roman" panose="02020603050405020304" pitchFamily="18" charset="0"/>
              </a:rPr>
              <a:t>, vol. 12, pp. 1–12, Jun. 2024.</a:t>
            </a:r>
          </a:p>
          <a:p>
            <a:r>
              <a:rPr lang="en-IN" sz="1500" b="1" dirty="0">
                <a:latin typeface="Times New Roman" panose="02020603050405020304" pitchFamily="18" charset="0"/>
                <a:cs typeface="Times New Roman" panose="02020603050405020304" pitchFamily="18" charset="0"/>
              </a:rPr>
              <a:t>[2]</a:t>
            </a:r>
            <a:r>
              <a:rPr lang="en-IN" sz="1500" dirty="0">
                <a:latin typeface="Times New Roman" panose="02020603050405020304" pitchFamily="18" charset="0"/>
                <a:cs typeface="Times New Roman" panose="02020603050405020304" pitchFamily="18" charset="0"/>
              </a:rPr>
              <a:t> Zhang Z., Lu C., Tian W., Liao Z., and Yuan Z., "Graph neural network-based surrogate modelling for real-time hydraulic prediction of urban drainage networks," </a:t>
            </a:r>
            <a:r>
              <a:rPr lang="en-IN" sz="1500" i="1" dirty="0">
                <a:latin typeface="Times New Roman" panose="02020603050405020304" pitchFamily="18" charset="0"/>
                <a:cs typeface="Times New Roman" panose="02020603050405020304" pitchFamily="18" charset="0"/>
              </a:rPr>
              <a:t>Water Res.</a:t>
            </a:r>
            <a:r>
              <a:rPr lang="en-IN" sz="1500" dirty="0">
                <a:latin typeface="Times New Roman" panose="02020603050405020304" pitchFamily="18" charset="0"/>
                <a:cs typeface="Times New Roman" panose="02020603050405020304" pitchFamily="18" charset="0"/>
              </a:rPr>
              <a:t>, vol. 263, p. 122142, 2024.</a:t>
            </a:r>
          </a:p>
          <a:p>
            <a:r>
              <a:rPr lang="en-IN" sz="1500" b="1" dirty="0">
                <a:latin typeface="Times New Roman" panose="02020603050405020304" pitchFamily="18" charset="0"/>
                <a:cs typeface="Times New Roman" panose="02020603050405020304" pitchFamily="18" charset="0"/>
              </a:rPr>
              <a:t>[3]</a:t>
            </a:r>
            <a:r>
              <a:rPr lang="en-IN" sz="1500" dirty="0">
                <a:latin typeface="Times New Roman" panose="02020603050405020304" pitchFamily="18" charset="0"/>
                <a:cs typeface="Times New Roman" panose="02020603050405020304" pitchFamily="18" charset="0"/>
              </a:rPr>
              <a:t> Kazadi A. N., Doss-Gollin J. et al., "</a:t>
            </a:r>
            <a:r>
              <a:rPr lang="en-IN" sz="1500" dirty="0" err="1">
                <a:latin typeface="Times New Roman" panose="02020603050405020304" pitchFamily="18" charset="0"/>
                <a:cs typeface="Times New Roman" panose="02020603050405020304" pitchFamily="18" charset="0"/>
              </a:rPr>
              <a:t>FloodGNN</a:t>
            </a:r>
            <a:r>
              <a:rPr lang="en-IN" sz="1500" dirty="0">
                <a:latin typeface="Times New Roman" panose="02020603050405020304" pitchFamily="18" charset="0"/>
                <a:cs typeface="Times New Roman" panose="02020603050405020304" pitchFamily="18" charset="0"/>
              </a:rPr>
              <a:t>-GRU: A </a:t>
            </a:r>
            <a:r>
              <a:rPr lang="en-IN" sz="1500" dirty="0" err="1">
                <a:latin typeface="Times New Roman" panose="02020603050405020304" pitchFamily="18" charset="0"/>
                <a:cs typeface="Times New Roman" panose="02020603050405020304" pitchFamily="18" charset="0"/>
              </a:rPr>
              <a:t>spatio</a:t>
            </a:r>
            <a:r>
              <a:rPr lang="en-IN" sz="1500" dirty="0">
                <a:latin typeface="Times New Roman" panose="02020603050405020304" pitchFamily="18" charset="0"/>
                <a:cs typeface="Times New Roman" panose="02020603050405020304" pitchFamily="18" charset="0"/>
              </a:rPr>
              <a:t>-temporal graph neural network for flood prediction," </a:t>
            </a:r>
            <a:r>
              <a:rPr lang="en-IN" sz="1500" i="1" dirty="0">
                <a:latin typeface="Times New Roman" panose="02020603050405020304" pitchFamily="18" charset="0"/>
                <a:cs typeface="Times New Roman" panose="02020603050405020304" pitchFamily="18" charset="0"/>
              </a:rPr>
              <a:t>Environ. Data Sci.</a:t>
            </a:r>
            <a:r>
              <a:rPr lang="en-IN" sz="1500" dirty="0">
                <a:latin typeface="Times New Roman" panose="02020603050405020304" pitchFamily="18" charset="0"/>
                <a:cs typeface="Times New Roman" panose="02020603050405020304" pitchFamily="18" charset="0"/>
              </a:rPr>
              <a:t>, Cambridge Univ. Press, Nov. 2024.</a:t>
            </a:r>
          </a:p>
          <a:p>
            <a:r>
              <a:rPr lang="en-IN" sz="1500" b="1" dirty="0">
                <a:latin typeface="Times New Roman" panose="02020603050405020304" pitchFamily="18" charset="0"/>
                <a:cs typeface="Times New Roman" panose="02020603050405020304" pitchFamily="18" charset="0"/>
              </a:rPr>
              <a:t>[4]</a:t>
            </a:r>
            <a:r>
              <a:rPr lang="en-IN" sz="1500" dirty="0">
                <a:latin typeface="Times New Roman" panose="02020603050405020304" pitchFamily="18" charset="0"/>
                <a:cs typeface="Times New Roman" panose="02020603050405020304" pitchFamily="18" charset="0"/>
              </a:rPr>
              <a:t> Chen E. et al., "Uncertainty forecasting model for flood based on Bayesian deep learning," </a:t>
            </a:r>
            <a:r>
              <a:rPr lang="en-IN" sz="1500" i="1" dirty="0">
                <a:latin typeface="Times New Roman" panose="02020603050405020304" pitchFamily="18" charset="0"/>
                <a:cs typeface="Times New Roman" panose="02020603050405020304" pitchFamily="18" charset="0"/>
              </a:rPr>
              <a:t>Front. Appl. Math. Stat.</a:t>
            </a:r>
            <a:r>
              <a:rPr lang="en-IN" sz="1500" dirty="0">
                <a:latin typeface="Times New Roman" panose="02020603050405020304" pitchFamily="18" charset="0"/>
                <a:cs typeface="Times New Roman" panose="02020603050405020304" pitchFamily="18" charset="0"/>
              </a:rPr>
              <a:t>, 2024.</a:t>
            </a:r>
          </a:p>
          <a:p>
            <a:r>
              <a:rPr lang="en-IN" sz="1500" b="1" dirty="0">
                <a:latin typeface="Times New Roman" panose="02020603050405020304" pitchFamily="18" charset="0"/>
                <a:cs typeface="Times New Roman" panose="02020603050405020304" pitchFamily="18" charset="0"/>
              </a:rPr>
              <a:t>[5]</a:t>
            </a:r>
            <a:r>
              <a:rPr lang="en-IN" sz="1500" dirty="0">
                <a:latin typeface="Times New Roman" panose="02020603050405020304" pitchFamily="18" charset="0"/>
                <a:cs typeface="Times New Roman" panose="02020603050405020304" pitchFamily="18" charset="0"/>
              </a:rPr>
              <a:t> Tian Y., Ding S., Su G., Huang L., and Chen J., "Physics-informed neural networks for solving the two-dimensional shallow water equations with terrain topography and rainfall source terms," </a:t>
            </a:r>
            <a:r>
              <a:rPr lang="en-IN" sz="1500" i="1" dirty="0" err="1">
                <a:latin typeface="Times New Roman" panose="02020603050405020304" pitchFamily="18" charset="0"/>
                <a:cs typeface="Times New Roman" panose="02020603050405020304" pitchFamily="18" charset="0"/>
              </a:rPr>
              <a:t>arXiv</a:t>
            </a:r>
            <a:r>
              <a:rPr lang="en-IN" sz="1500" i="1" dirty="0">
                <a:latin typeface="Times New Roman" panose="02020603050405020304" pitchFamily="18" charset="0"/>
                <a:cs typeface="Times New Roman" panose="02020603050405020304" pitchFamily="18" charset="0"/>
              </a:rPr>
              <a:t> preprint arXiv:2501.11372</a:t>
            </a:r>
            <a:r>
              <a:rPr lang="en-IN" sz="1500" dirty="0">
                <a:latin typeface="Times New Roman" panose="02020603050405020304" pitchFamily="18" charset="0"/>
                <a:cs typeface="Times New Roman" panose="02020603050405020304" pitchFamily="18" charset="0"/>
              </a:rPr>
              <a:t>, Jan. 2025.</a:t>
            </a:r>
          </a:p>
          <a:p>
            <a:r>
              <a:rPr lang="en-IN" sz="1500" b="1" dirty="0">
                <a:latin typeface="Times New Roman" panose="02020603050405020304" pitchFamily="18" charset="0"/>
                <a:cs typeface="Times New Roman" panose="02020603050405020304" pitchFamily="18" charset="0"/>
              </a:rPr>
              <a:t>[6]</a:t>
            </a:r>
            <a:r>
              <a:rPr lang="en-IN" sz="1500" dirty="0">
                <a:latin typeface="Times New Roman" panose="02020603050405020304" pitchFamily="18" charset="0"/>
                <a:cs typeface="Times New Roman" panose="02020603050405020304" pitchFamily="18" charset="0"/>
              </a:rPr>
              <a:t> Ren M., Wang S., Liang B., and Wei C., "Maximum flow model with multiple origin and destination and its application in designing urban drainage systems," </a:t>
            </a:r>
            <a:r>
              <a:rPr lang="en-IN" sz="1500" i="1" dirty="0">
                <a:latin typeface="Times New Roman" panose="02020603050405020304" pitchFamily="18" charset="0"/>
                <a:cs typeface="Times New Roman" panose="02020603050405020304" pitchFamily="18" charset="0"/>
              </a:rPr>
              <a:t>IEEE Access</a:t>
            </a:r>
            <a:r>
              <a:rPr lang="en-IN" sz="1500" dirty="0">
                <a:latin typeface="Times New Roman" panose="02020603050405020304" pitchFamily="18" charset="0"/>
                <a:cs typeface="Times New Roman" panose="02020603050405020304" pitchFamily="18" charset="0"/>
              </a:rPr>
              <a:t>, 2025.</a:t>
            </a:r>
          </a:p>
          <a:p>
            <a:r>
              <a:rPr lang="en-IN" sz="1500" b="1" dirty="0">
                <a:latin typeface="Times New Roman" panose="02020603050405020304" pitchFamily="18" charset="0"/>
                <a:cs typeface="Times New Roman" panose="02020603050405020304" pitchFamily="18" charset="0"/>
              </a:rPr>
              <a:t>[7]</a:t>
            </a:r>
            <a:r>
              <a:rPr lang="en-IN" sz="1500" dirty="0">
                <a:latin typeface="Times New Roman" panose="02020603050405020304" pitchFamily="18" charset="0"/>
                <a:cs typeface="Times New Roman" panose="02020603050405020304" pitchFamily="18" charset="0"/>
              </a:rPr>
              <a:t> Reddy P. M. T., Reddy M. L., Yadav M. P. K., and Reddy T. P. N., "Intelligent prediction of flood disaster risk levels based on knowledge graph and graph neural networks," </a:t>
            </a:r>
            <a:r>
              <a:rPr lang="en-IN" sz="1500" i="1" dirty="0">
                <a:latin typeface="Times New Roman" panose="02020603050405020304" pitchFamily="18" charset="0"/>
                <a:cs typeface="Times New Roman" panose="02020603050405020304" pitchFamily="18" charset="0"/>
              </a:rPr>
              <a:t>IRE J.</a:t>
            </a:r>
            <a:r>
              <a:rPr lang="en-IN" sz="1500" dirty="0">
                <a:latin typeface="Times New Roman" panose="02020603050405020304" pitchFamily="18" charset="0"/>
                <a:cs typeface="Times New Roman" panose="02020603050405020304" pitchFamily="18" charset="0"/>
              </a:rPr>
              <a:t>, vol. 9, no. 9, 2025.</a:t>
            </a:r>
          </a:p>
          <a:p>
            <a:r>
              <a:rPr lang="en-IN" sz="1500" b="1" dirty="0">
                <a:latin typeface="Times New Roman" panose="02020603050405020304" pitchFamily="18" charset="0"/>
                <a:cs typeface="Times New Roman" panose="02020603050405020304" pitchFamily="18" charset="0"/>
              </a:rPr>
              <a:t>[8]</a:t>
            </a:r>
            <a:r>
              <a:rPr lang="en-IN" sz="1500" dirty="0">
                <a:latin typeface="Times New Roman" panose="02020603050405020304" pitchFamily="18" charset="0"/>
                <a:cs typeface="Times New Roman" panose="02020603050405020304" pitchFamily="18" charset="0"/>
              </a:rPr>
              <a:t> DCosta L., Wang Y., Goodall J. L., and Chandra R., "Physics-informed CNN-LSTM for street-scale urban flood prediction: Reconciling aggregate accuracy and street-level plausibility," </a:t>
            </a:r>
            <a:r>
              <a:rPr lang="en-IN" sz="1500" i="1" dirty="0">
                <a:latin typeface="Times New Roman" panose="02020603050405020304" pitchFamily="18" charset="0"/>
                <a:cs typeface="Times New Roman" panose="02020603050405020304" pitchFamily="18" charset="0"/>
              </a:rPr>
              <a:t>Water</a:t>
            </a:r>
            <a:r>
              <a:rPr lang="en-IN" sz="1500" dirty="0">
                <a:latin typeface="Times New Roman" panose="02020603050405020304" pitchFamily="18" charset="0"/>
                <a:cs typeface="Times New Roman" panose="02020603050405020304" pitchFamily="18" charset="0"/>
              </a:rPr>
              <a:t>, MDPI, Jul. 2026.</a:t>
            </a:r>
          </a:p>
          <a:p>
            <a:r>
              <a:rPr lang="en-IN" sz="1500" b="1" dirty="0">
                <a:latin typeface="Times New Roman" panose="02020603050405020304" pitchFamily="18" charset="0"/>
                <a:cs typeface="Times New Roman" panose="02020603050405020304" pitchFamily="18" charset="0"/>
              </a:rPr>
              <a:t>[9]</a:t>
            </a:r>
            <a:r>
              <a:rPr lang="en-IN" sz="1500" dirty="0">
                <a:latin typeface="Times New Roman" panose="02020603050405020304" pitchFamily="18" charset="0"/>
                <a:cs typeface="Times New Roman" panose="02020603050405020304" pitchFamily="18" charset="0"/>
              </a:rPr>
              <a:t> Mercier V., Gratton S., Lapeyre C., and </a:t>
            </a:r>
            <a:r>
              <a:rPr lang="en-IN" sz="1500" dirty="0" err="1">
                <a:latin typeface="Times New Roman" panose="02020603050405020304" pitchFamily="18" charset="0"/>
                <a:cs typeface="Times New Roman" panose="02020603050405020304" pitchFamily="18" charset="0"/>
              </a:rPr>
              <a:t>Chevallet</a:t>
            </a:r>
            <a:r>
              <a:rPr lang="en-IN" sz="1500" dirty="0">
                <a:latin typeface="Times New Roman" panose="02020603050405020304" pitchFamily="18" charset="0"/>
                <a:cs typeface="Times New Roman" panose="02020603050405020304" pitchFamily="18" charset="0"/>
              </a:rPr>
              <a:t> G., "Toward an operational GNN-based </a:t>
            </a:r>
            <a:r>
              <a:rPr lang="en-IN" sz="1500" dirty="0" err="1">
                <a:latin typeface="Times New Roman" panose="02020603050405020304" pitchFamily="18" charset="0"/>
                <a:cs typeface="Times New Roman" panose="02020603050405020304" pitchFamily="18" charset="0"/>
              </a:rPr>
              <a:t>multimesh</a:t>
            </a:r>
            <a:r>
              <a:rPr lang="en-IN" sz="1500" dirty="0">
                <a:latin typeface="Times New Roman" panose="02020603050405020304" pitchFamily="18" charset="0"/>
                <a:cs typeface="Times New Roman" panose="02020603050405020304" pitchFamily="18" charset="0"/>
              </a:rPr>
              <a:t> surrogate for fast flood forecasting," Université de Toulouse / NVIDIA, 2026.</a:t>
            </a:r>
          </a:p>
          <a:p>
            <a:r>
              <a:rPr lang="en-IN" sz="1500" b="1" dirty="0">
                <a:latin typeface="Times New Roman" panose="02020603050405020304" pitchFamily="18" charset="0"/>
                <a:cs typeface="Times New Roman" panose="02020603050405020304" pitchFamily="18" charset="0"/>
              </a:rPr>
              <a:t>[10]</a:t>
            </a:r>
            <a:r>
              <a:rPr lang="en-IN" sz="1500" dirty="0">
                <a:latin typeface="Times New Roman" panose="02020603050405020304" pitchFamily="18" charset="0"/>
                <a:cs typeface="Times New Roman" panose="02020603050405020304" pitchFamily="18" charset="0"/>
              </a:rPr>
              <a:t> You L., Wu M., Woods O., and Luo D., "Multi-source dynamic graph learning for compound-flood forecasting in managed coastal systems," </a:t>
            </a:r>
            <a:r>
              <a:rPr lang="en-IN" sz="1500" i="1" dirty="0" err="1">
                <a:latin typeface="Times New Roman" panose="02020603050405020304" pitchFamily="18" charset="0"/>
                <a:cs typeface="Times New Roman" panose="02020603050405020304" pitchFamily="18" charset="0"/>
              </a:rPr>
              <a:t>arXiv</a:t>
            </a:r>
            <a:r>
              <a:rPr lang="en-IN" sz="1500" i="1" dirty="0">
                <a:latin typeface="Times New Roman" panose="02020603050405020304" pitchFamily="18" charset="0"/>
                <a:cs typeface="Times New Roman" panose="02020603050405020304" pitchFamily="18" charset="0"/>
              </a:rPr>
              <a:t> preprint arXiv:2608.01775</a:t>
            </a:r>
            <a:r>
              <a:rPr lang="en-IN" sz="1500" dirty="0">
                <a:latin typeface="Times New Roman" panose="02020603050405020304" pitchFamily="18" charset="0"/>
                <a:cs typeface="Times New Roman" panose="02020603050405020304" pitchFamily="18" charset="0"/>
              </a:rPr>
              <a:t>, Aug. 2026.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Footer Placeholder 4"/>
          <p:cNvSpPr>
            <a:spLocks noGrp="1"/>
          </p:cNvSpPr>
          <p:nvPr>
            <p:ph type="ftr" sz="quarter" idx="11"/>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r>
              <a:rPr lang="en-US" altLang="en-US" dirty="0"/>
              <a:t>© BVRIT AI&amp;DS</a:t>
            </a:r>
          </a:p>
        </p:txBody>
      </p:sp>
      <p:sp>
        <p:nvSpPr>
          <p:cNvPr id="14341" name="Slide Number Placeholder 5"/>
          <p:cNvSpPr>
            <a:spLocks noGrp="1"/>
          </p:cNvSpPr>
          <p:nvPr>
            <p:ph type="sldNum" sz="quarter" idx="12"/>
          </p:nvPr>
        </p:nvSpPr>
        <p:spPr bwMode="auto">
          <a:noFill/>
          <a:ln>
            <a:miter lim="800000"/>
            <a:headEnd/>
            <a:tailEnd/>
          </a:ln>
        </p:spPr>
        <p:txBody>
          <a:bodyPr/>
          <a:lstStyle/>
          <a:p>
            <a:fld id="{D0875F05-5E2C-49B8-9428-2F9C627CBDFB}" type="slidenum">
              <a:rPr lang="en-US" altLang="en-US"/>
              <a:pPr/>
              <a:t>20</a:t>
            </a:fld>
            <a:endParaRPr lang="en-US" altLang="en-US"/>
          </a:p>
        </p:txBody>
      </p:sp>
      <p:sp>
        <p:nvSpPr>
          <p:cNvPr id="10" name="Title 9"/>
          <p:cNvSpPr>
            <a:spLocks noGrp="1"/>
          </p:cNvSpPr>
          <p:nvPr>
            <p:ph type="title"/>
          </p:nvPr>
        </p:nvSpPr>
        <p:spPr>
          <a:xfrm>
            <a:off x="998085" y="2855188"/>
            <a:ext cx="10810738" cy="595312"/>
          </a:xfrm>
        </p:spPr>
        <p:txBody>
          <a:bodyPr/>
          <a:lstStyle/>
          <a:p>
            <a:pPr algn="ctr"/>
            <a:r>
              <a:rPr lang="en-US" dirty="0"/>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hinni's">
      <a:majorFont>
        <a:latin typeface="Bookman Old Style"/>
        <a:ea typeface=""/>
        <a:cs typeface=""/>
      </a:majorFont>
      <a:minorFont>
        <a:latin typeface="Bookman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4455</TotalTime>
  <Words>2409</Words>
  <Application>Microsoft Office PowerPoint</Application>
  <PresentationFormat>Widescreen</PresentationFormat>
  <Paragraphs>254</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Bookman Old Style</vt:lpstr>
      <vt:lpstr>Calibri</vt:lpstr>
      <vt:lpstr>Cambria</vt:lpstr>
      <vt:lpstr>Cambria Math</vt:lpstr>
      <vt:lpstr>system-ui</vt:lpstr>
      <vt:lpstr>Times New Roman</vt:lpstr>
      <vt:lpstr>Office Theme</vt:lpstr>
      <vt:lpstr>B V RAJU INSTITUTE OF TECHNOLOGY (UGC Autonomous) Vishnupur, Narsapur, Medak District</vt:lpstr>
      <vt:lpstr>Outline</vt:lpstr>
      <vt:lpstr>Abstract </vt:lpstr>
      <vt:lpstr>Literature Review</vt:lpstr>
      <vt:lpstr>Literature Review</vt:lpstr>
      <vt:lpstr>Literature Review</vt:lpstr>
      <vt:lpstr>Literature Review</vt:lpstr>
      <vt:lpstr> Problem Statement</vt:lpstr>
      <vt:lpstr>Research Gap</vt:lpstr>
      <vt:lpstr>Objectives</vt:lpstr>
      <vt:lpstr>Proposed Methodology</vt:lpstr>
      <vt:lpstr>Proposed Model Algorithm/Diagram</vt:lpstr>
      <vt:lpstr>System Architecture</vt:lpstr>
      <vt:lpstr>UML DIAGRAMS</vt:lpstr>
      <vt:lpstr>UML DIAGRAMS</vt:lpstr>
      <vt:lpstr>UML DIAGRAMS</vt:lpstr>
      <vt:lpstr>Functional Requirements </vt:lpstr>
      <vt:lpstr>Non - Functional Requirements </vt:lpstr>
      <vt:lpstr> References (Min 10 Reference in chronological order)</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 Uday Kiran</dc:creator>
  <cp:lastModifiedBy>DEEKSHITHA YASARAPU</cp:lastModifiedBy>
  <cp:revision>385</cp:revision>
  <dcterms:created xsi:type="dcterms:W3CDTF">2022-01-24T13:25:03Z</dcterms:created>
  <dcterms:modified xsi:type="dcterms:W3CDTF">2026-09-20T18:36:58Z</dcterms:modified>
</cp:coreProperties>
</file>